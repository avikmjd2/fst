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we're presenting our final project 'Words and Transducers'. This project builds a morphological analyzer for English, Hindi, and Bengali using Finite State Transducers implemented with Python's Pynini library, alongside a Neural Network approach for comparison. I'm Rushil and this is Avik.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begin with an introduction to morphological analysis and why it matters.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Morphological analysis is the study of how words are formed from smaller units called morphemes. For example, 'walked' can be decomposed into 'walk' the root and '-ed' the past tense suffix. Our system supports both analysis — breaking words down — and generation — building words from morphemes. This is especially important for morphologically rich languages like Hindi and Bengali.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problem statement is clear: given a surface word form like 'flies', produce its morphological analysis 'fly plus N;PL' meaning it's the plural of the noun 'fly'. The system must handle regular inflection, spelling changes like y-to-ies, irregular forms, and derivational morphology. We approach this with two methods: a rule-based FST and a data-driven neural network.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Morphological analysis has wide applications. In machine translation, understanding that 'walked' is 'walk+past tense' helps translate into Hindi where the tense is expressed differently. In information retrieval, knowing that 'searching', 'searched', and 'searches' all relate to 'search' improves search results. It's also crucial for speech recognition and spell-checking systems.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used Python with the Pynini library from Google for building FSTs. Pynini only runs on Linux, so we used WSL. For the neural approach, we used PyTorch. Our evaluation dataset is UniMorph English with over 650 thousand entries, plus Hindi and Bengali CoNLL-U treebanks. The entire codebase is on GitHub.</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FST works as a three-stage pipeline. First, morphotactics maps analysis strings to intermediate forms with boundary markers — for example, walk+V;PST becomes walk^ed. Then, spelling rules handle orthographic changes: y becomes ie before s, e is deleted before ing, and e is inserted after sibilants. Finally, boundary markers are removed to produce the surface form. These rules are implemented using pynini's cdrewrite function for context-dependent rewriting.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what we've accomplished since the mid-term evaluation.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mid-term, we had a basic English FST that could handle regular inflection with 5 spelling rules and about 150 irregular forms. Our accuracy on UniMorph was only 25.4% because the lexicon was small and many words were out-of-vocabulary. We had no Hindi or Bengali support and no neural network yet.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mid-term, Rushil built the Hindi FST extension with over 2000 vocabulary words and Devanagari grapheme-level processing, plus the evaluation pipeline and website refinements. Avik built the Bengali FST analyzer, designed the neural network using a character-level Transformer architecture, created the main website interface, and implemented the state traversal visualization.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the dramatic evolution of our system. We went from English-only at 25% accuracy to a trilingual hybrid system achieving 74.3% accuracy and 100% coverage. We added web interface, real state traversal visualization, and support for Hindi and Bengali morphological analysis.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dive into the detailed results of our system.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our key metrics on 5000 UniMorph English entries. The pure FST achieves 36.9% coverage and 25.4% accuracy. When we add the neural fallback — the hybrid system — coverage jumps to 100% and accuracy to 74.3%. That's a 48.9% improvement in accuracy. The neural network correctly handles 2,374 words that the FST couldn't process, eliminating all OOV words.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live examples from our system. Regular forms: 'walking' correctly decomposes to 'walk plus present participle', 'flies' to 'fly plus plural'. Irregular forms like 'went' map to 'go plus past tense'. On the right, you can see the FST state traversal for 'helpful' — the system walks through each letter, identifies the root 'help' and suffix 'ful', showing the actual state transitions with a fork at the morpheme boundary.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see our Hindi and Bengali FST analyzers in action. For Hindi, the word 'jaata' traverses actual pynini states q57, q55, q53 — these are real internal state IDs from the compiled FST. It correctly identifies the lemma as 'jaana' with imperfective aspect. For Bengali, 'hoyechhe' follows a similar path. A key technical challenge was Unicode grapheme clustering — Bengali characters combine base letters with vowel signs, and we group these into single arcs rather than processing raw codepoints.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Avik designed the neural network as a character-level Transformer encoder-decoder. The input word is converted to character embeddings, passed through positional encoding, then a 3-layer Transformer encoder with 4 attention heads. The decoder produces the morphological analysis string character by character. It was trained on 5000 UniMorph entries with AdamW optimizer. This model serves as the fallback — when the FST doesn't recognize a word, the neural network provides an analysis.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comparison highlights why a hybrid approach is optimal. The FST is extremely fast and interpretable — you can see exactly which states it traversed — but it fails on words not in its lexicon. The neural network handles any input but is slower, less accurate on known forms, and acts as a black box. By combining them, we get the FST's precision on known words and the neural network's coverage on everything else.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discuss the challenges we encountered during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first major challenge was getting the cdrewrite rule order correct. Pynini composes rules left to right, and the wrong order produces incorrect results. For example, if boundary deletion fires before y-to-ie, you get 'flys' instead of 'flies'. Consonant doubling — like stop to stopped — was hard to express as a context-dependent rule because it requires knowing syllable weight. We handled it through the irregulars table. Irregular forms like go-went simply have no rule and must be listed explicitly.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Cross-lingually, the biggest challenge was Unicode grapheme clustering. Pynini works at the codepoint level, but Bengali characters combine base letters with vowel signs — we wrote a custom function to group these. Another issue was epsilon arcs: when pynini composes the input with the FST, it creates many internal epsilon transitions that pollute the state path. We filter these out. The neural network faced data imbalance — common tags like noun plural appear thousands of times while rare tags barely appear. We used label smoothing and early stopping to handle this.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break down each team member's contributions.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detailed breakdown. Rushil handled the core English FST implementation — the lexicon with 750+ stems, morphotactics rules, 5 spelling rules, and 150 irregular forms. He also built the Hindi FST extension with 2011 words and the evaluation pipeline. Avik designed and trained the neural network, achieving 74.3% accuracy in the hybrid system. He also built the Bengali FST analyzer with grapheme clustering and created the main website interface with graph visualizations.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shared work on the main CLI, the analysis wrapper, and data loading utilities. Integration testing was crucial — we cross-validated that the FST and neural network produce compatible output formats. The project is organized into clean directories: fst for English rule-based, fsl for the English hybrid with neural network, hindi_fst and bengali_fst for the cross-lingual extensions, and website for the web interface.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actual code from our spelling rules module. The y-to-ie rule uses pynini's cdrewrite function: it replaces 'y' with 'ie' when the left context is a consonant and the right context is the boundary marker followed by 's'. This handles fly becoming flies. The e-deletion rule removes silent 'e' before vowel-initial suffixes, so hope-ing becomes hoping. Rules are composed using the @ operator to create a cascade — order matters.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we built a trilingual morphological analyzer covering English, Hindi, and Bengali. The hybrid FST plus neural approach achieves 74.3% accuracy with 100% coverage, eliminating all out-of-vocabulary failures. We provide real state traversal visualization and a web interface. For future work, we'd like to add more Indian languages, integrate context-aware POS tagging, and deploy the web interface publicly. Thank you for listening — we're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12191695" cy="109728"/>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10058400" cy="1097280"/>
          </a:xfrm>
          <a:prstGeom prst="rect">
            <a:avLst/>
          </a:prstGeom>
          <a:noFill/>
        </p:spPr>
        <p:txBody>
          <a:bodyPr wrap="square">
            <a:spAutoFit/>
          </a:bodyPr>
          <a:lstStyle/>
          <a:p>
            <a:pPr algn="ctr">
              <a:defRPr sz="4000" b="1">
                <a:solidFill>
                  <a:srgbClr val="FFFFFF"/>
                </a:solidFill>
              </a:defRPr>
            </a:pPr>
            <a:r>
              <a:t>Words and Transducers</a:t>
            </a:r>
          </a:p>
        </p:txBody>
      </p:sp>
      <p:sp>
        <p:nvSpPr>
          <p:cNvPr id="5" name="TextBox 4"/>
          <p:cNvSpPr txBox="1"/>
          <p:nvPr/>
        </p:nvSpPr>
        <p:spPr>
          <a:xfrm>
            <a:off x="914400" y="3291840"/>
            <a:ext cx="10058400" cy="731520"/>
          </a:xfrm>
          <a:prstGeom prst="rect">
            <a:avLst/>
          </a:prstGeom>
          <a:noFill/>
        </p:spPr>
        <p:txBody>
          <a:bodyPr wrap="square">
            <a:spAutoFit/>
          </a:bodyPr>
          <a:lstStyle/>
          <a:p>
            <a:pPr algn="ctr">
              <a:defRPr sz="2200" b="0">
                <a:solidFill>
                  <a:srgbClr val="53D8FB"/>
                </a:solidFill>
              </a:defRPr>
            </a:pPr>
            <a:r>
              <a:t>Morphological Analysis using Finite State Transducers &amp; Neural Networks</a:t>
            </a:r>
            <a:br/>
            <a:br/>
            <a:r>
              <a:t>Rushil Sharma  •  Avik Majumder</a:t>
            </a:r>
            <a:br/>
            <a:r>
              <a:t>CL-1 Final Project  •  Sem 2,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E94E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926080"/>
            <a:ext cx="2743200" cy="54864"/>
          </a:xfrm>
          <a:prstGeom prst="rect">
            <a:avLst/>
          </a:prstGeom>
          <a:solidFill>
            <a:srgbClr val="E94E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0"/>
            <a:ext cx="3657600" cy="731520"/>
          </a:xfrm>
          <a:prstGeom prst="rect">
            <a:avLst/>
          </a:prstGeom>
          <a:noFill/>
        </p:spPr>
        <p:txBody>
          <a:bodyPr wrap="square">
            <a:spAutoFit/>
          </a:bodyPr>
          <a:lstStyle/>
          <a:p>
            <a:pPr algn="l">
              <a:defRPr sz="1600" b="1">
                <a:solidFill>
                  <a:srgbClr val="E94E77"/>
                </a:solidFill>
              </a:defRPr>
            </a:pPr>
            <a:r>
              <a:t>SECTION 01</a:t>
            </a:r>
          </a:p>
        </p:txBody>
      </p:sp>
      <p:sp>
        <p:nvSpPr>
          <p:cNvPr id="5" name="TextBox 4"/>
          <p:cNvSpPr txBox="1"/>
          <p:nvPr/>
        </p:nvSpPr>
        <p:spPr>
          <a:xfrm>
            <a:off x="731520" y="3200400"/>
            <a:ext cx="10058400" cy="914400"/>
          </a:xfrm>
          <a:prstGeom prst="rect">
            <a:avLst/>
          </a:prstGeom>
          <a:noFill/>
        </p:spPr>
        <p:txBody>
          <a:bodyPr wrap="square">
            <a:spAutoFit/>
          </a:bodyPr>
          <a:lstStyle/>
          <a:p>
            <a:pPr algn="l">
              <a:defRPr sz="3600" b="1">
                <a:solidFill>
                  <a:srgbClr val="FFFFFF"/>
                </a:solidFill>
              </a:defRPr>
            </a:pPr>
            <a:r>
              <a:t>Introduction to the Topic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058400" cy="640080"/>
          </a:xfrm>
          <a:prstGeom prst="rect">
            <a:avLst/>
          </a:prstGeom>
          <a:noFill/>
        </p:spPr>
        <p:txBody>
          <a:bodyPr wrap="square">
            <a:spAutoFit/>
          </a:bodyPr>
          <a:lstStyle/>
          <a:p>
            <a:pPr algn="l">
              <a:defRPr sz="3000" b="1">
                <a:solidFill>
                  <a:srgbClr val="53D8FB"/>
                </a:solidFill>
              </a:defRPr>
            </a:pPr>
            <a:r>
              <a:t>What is Morphological Analysis?</a:t>
            </a:r>
          </a:p>
        </p:txBody>
      </p:sp>
      <p:sp>
        <p:nvSpPr>
          <p:cNvPr id="4" name="TextBox 3"/>
          <p:cNvSpPr txBox="1"/>
          <p:nvPr/>
        </p:nvSpPr>
        <p:spPr>
          <a:xfrm>
            <a:off x="548640" y="1188720"/>
            <a:ext cx="10515600" cy="5029200"/>
          </a:xfrm>
          <a:prstGeom prst="rect">
            <a:avLst/>
          </a:prstGeom>
          <a:noFill/>
        </p:spPr>
        <p:txBody>
          <a:bodyPr wrap="square">
            <a:spAutoFit/>
          </a:bodyPr>
          <a:lstStyle/>
          <a:p>
            <a:pPr>
              <a:spcAft>
                <a:spcPts val="400"/>
              </a:spcAft>
              <a:defRPr sz="1700">
                <a:solidFill>
                  <a:srgbClr val="B0BEC5"/>
                </a:solidFill>
              </a:defRPr>
            </a:pPr>
            <a:r>
              <a:t>• Study of the internal structure of words</a:t>
            </a:r>
          </a:p>
          <a:p>
            <a:pPr>
              <a:spcAft>
                <a:spcPts val="400"/>
              </a:spcAft>
              <a:defRPr sz="1700">
                <a:solidFill>
                  <a:srgbClr val="B0BEC5"/>
                </a:solidFill>
              </a:defRPr>
            </a:pPr>
            <a:r>
              <a:t>• Words are composed of morphemes — smallest meaningful units</a:t>
            </a:r>
          </a:p>
          <a:p>
            <a:pPr>
              <a:spcAft>
                <a:spcPts val="400"/>
              </a:spcAft>
              <a:defRPr sz="1700">
                <a:solidFill>
                  <a:srgbClr val="B0BEC5"/>
                </a:solidFill>
              </a:defRPr>
            </a:pPr>
          </a:p>
          <a:p>
            <a:pPr>
              <a:spcAft>
                <a:spcPts val="400"/>
              </a:spcAft>
              <a:defRPr sz="1700">
                <a:solidFill>
                  <a:srgbClr val="B0BEC5"/>
                </a:solidFill>
              </a:defRPr>
            </a:pPr>
            <a:r>
              <a:t>• Two key operations:</a:t>
            </a:r>
          </a:p>
          <a:p>
            <a:pPr>
              <a:spcAft>
                <a:spcPts val="400"/>
              </a:spcAft>
              <a:defRPr sz="1700">
                <a:solidFill>
                  <a:srgbClr val="B0BEC5"/>
                </a:solidFill>
              </a:defRPr>
            </a:pPr>
            <a:r>
              <a:t>   Analysis:   walked  →  walk + V;PST</a:t>
            </a:r>
          </a:p>
          <a:p>
            <a:pPr>
              <a:spcAft>
                <a:spcPts val="400"/>
              </a:spcAft>
              <a:defRPr sz="1700">
                <a:solidFill>
                  <a:srgbClr val="B0BEC5"/>
                </a:solidFill>
              </a:defRPr>
            </a:pPr>
            <a:r>
              <a:t>   Generation: walk + V;PST  →  walked</a:t>
            </a:r>
          </a:p>
          <a:p>
            <a:pPr>
              <a:spcAft>
                <a:spcPts val="400"/>
              </a:spcAft>
              <a:defRPr sz="1700">
                <a:solidFill>
                  <a:srgbClr val="B0BEC5"/>
                </a:solidFill>
              </a:defRPr>
            </a:pPr>
          </a:p>
          <a:p>
            <a:pPr>
              <a:spcAft>
                <a:spcPts val="400"/>
              </a:spcAft>
              <a:defRPr sz="1700">
                <a:solidFill>
                  <a:srgbClr val="B0BEC5"/>
                </a:solidFill>
              </a:defRPr>
            </a:pPr>
            <a:r>
              <a:t>• Handles inflection (walk→walked), derivation (happy→unhappiness),</a:t>
            </a:r>
          </a:p>
          <a:p>
            <a:pPr>
              <a:spcAft>
                <a:spcPts val="400"/>
              </a:spcAft>
              <a:defRPr sz="1700">
                <a:solidFill>
                  <a:srgbClr val="B0BEC5"/>
                </a:solidFill>
              </a:defRPr>
            </a:pPr>
            <a:r>
              <a:t>  and compounding (bookshelf = book + shelf)</a:t>
            </a:r>
          </a:p>
          <a:p>
            <a:pPr>
              <a:spcAft>
                <a:spcPts val="400"/>
              </a:spcAft>
              <a:defRPr sz="1700">
                <a:solidFill>
                  <a:srgbClr val="B0BEC5"/>
                </a:solidFill>
              </a:defRPr>
            </a:pPr>
          </a:p>
          <a:p>
            <a:pPr>
              <a:spcAft>
                <a:spcPts val="400"/>
              </a:spcAft>
              <a:defRPr sz="1700">
                <a:solidFill>
                  <a:srgbClr val="B0BEC5"/>
                </a:solidFill>
              </a:defRPr>
            </a:pPr>
            <a:r>
              <a:t>• Critical for languages with rich morphology (Hindi, Bengali, Turkish)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058400" cy="640080"/>
          </a:xfrm>
          <a:prstGeom prst="rect">
            <a:avLst/>
          </a:prstGeom>
          <a:noFill/>
        </p:spPr>
        <p:txBody>
          <a:bodyPr wrap="square">
            <a:spAutoFit/>
          </a:bodyPr>
          <a:lstStyle/>
          <a:p>
            <a:pPr algn="l">
              <a:defRPr sz="3000" b="1">
                <a:solidFill>
                  <a:srgbClr val="53D8FB"/>
                </a:solidFill>
              </a:defRPr>
            </a:pPr>
            <a:r>
              <a:t>Problem Statement</a:t>
            </a:r>
          </a:p>
        </p:txBody>
      </p:sp>
      <p:sp>
        <p:nvSpPr>
          <p:cNvPr id="4" name="TextBox 3"/>
          <p:cNvSpPr txBox="1"/>
          <p:nvPr/>
        </p:nvSpPr>
        <p:spPr>
          <a:xfrm>
            <a:off x="548640" y="1188720"/>
            <a:ext cx="10515600" cy="5029200"/>
          </a:xfrm>
          <a:prstGeom prst="rect">
            <a:avLst/>
          </a:prstGeom>
          <a:noFill/>
        </p:spPr>
        <p:txBody>
          <a:bodyPr wrap="square">
            <a:spAutoFit/>
          </a:bodyPr>
          <a:lstStyle/>
          <a:p>
            <a:pPr>
              <a:spcAft>
                <a:spcPts val="400"/>
              </a:spcAft>
              <a:defRPr sz="1700">
                <a:solidFill>
                  <a:srgbClr val="B0BEC5"/>
                </a:solidFill>
              </a:defRPr>
            </a:pPr>
            <a:r>
              <a:t>• Goal: Build a bidirectional morphological analyzer</a:t>
            </a:r>
          </a:p>
          <a:p>
            <a:pPr>
              <a:spcAft>
                <a:spcPts val="400"/>
              </a:spcAft>
              <a:defRPr sz="1700">
                <a:solidFill>
                  <a:srgbClr val="B0BEC5"/>
                </a:solidFill>
              </a:defRPr>
            </a:pPr>
          </a:p>
          <a:p>
            <a:pPr>
              <a:spcAft>
                <a:spcPts val="400"/>
              </a:spcAft>
              <a:defRPr sz="1700">
                <a:solidFill>
                  <a:srgbClr val="B0BEC5"/>
                </a:solidFill>
              </a:defRPr>
            </a:pPr>
            <a:r>
              <a:t>• Input: Surface word form (e.g., 'flies', 'walked', 'unhappiness')</a:t>
            </a:r>
          </a:p>
          <a:p>
            <a:pPr>
              <a:spcAft>
                <a:spcPts val="400"/>
              </a:spcAft>
              <a:defRPr sz="1700">
                <a:solidFill>
                  <a:srgbClr val="B0BEC5"/>
                </a:solidFill>
              </a:defRPr>
            </a:pPr>
            <a:r>
              <a:t>• Output: Morphological analysis (e.g., 'fly+N;PL', 'walk+V;PST')</a:t>
            </a:r>
          </a:p>
          <a:p>
            <a:pPr>
              <a:spcAft>
                <a:spcPts val="400"/>
              </a:spcAft>
              <a:defRPr sz="1700">
                <a:solidFill>
                  <a:srgbClr val="B0BEC5"/>
                </a:solidFill>
              </a:defRPr>
            </a:pPr>
          </a:p>
          <a:p>
            <a:pPr>
              <a:spcAft>
                <a:spcPts val="400"/>
              </a:spcAft>
              <a:defRPr sz="1700">
                <a:solidFill>
                  <a:srgbClr val="B0BEC5"/>
                </a:solidFill>
              </a:defRPr>
            </a:pPr>
            <a:r>
              <a:t>• Must handle:</a:t>
            </a:r>
          </a:p>
          <a:p>
            <a:pPr>
              <a:spcAft>
                <a:spcPts val="400"/>
              </a:spcAft>
              <a:defRPr sz="1700">
                <a:solidFill>
                  <a:srgbClr val="B0BEC5"/>
                </a:solidFill>
              </a:defRPr>
            </a:pPr>
            <a:r>
              <a:t>   — Regular inflection:  dog → dogs, walk → walked</a:t>
            </a:r>
          </a:p>
          <a:p>
            <a:pPr>
              <a:spcAft>
                <a:spcPts val="400"/>
              </a:spcAft>
              <a:defRPr sz="1700">
                <a:solidFill>
                  <a:srgbClr val="B0BEC5"/>
                </a:solidFill>
              </a:defRPr>
            </a:pPr>
            <a:r>
              <a:t>   — Spelling changes:    fly → flies, hope → hoping</a:t>
            </a:r>
          </a:p>
          <a:p>
            <a:pPr>
              <a:spcAft>
                <a:spcPts val="400"/>
              </a:spcAft>
              <a:defRPr sz="1700">
                <a:solidFill>
                  <a:srgbClr val="B0BEC5"/>
                </a:solidFill>
              </a:defRPr>
            </a:pPr>
            <a:r>
              <a:t>   — Irregular forms:     go → went, mouse → mice</a:t>
            </a:r>
          </a:p>
          <a:p>
            <a:pPr>
              <a:spcAft>
                <a:spcPts val="400"/>
              </a:spcAft>
              <a:defRPr sz="1700">
                <a:solidFill>
                  <a:srgbClr val="B0BEC5"/>
                </a:solidFill>
              </a:defRPr>
            </a:pPr>
            <a:r>
              <a:t>   — Derivational morphology: happy → unhappiness</a:t>
            </a:r>
          </a:p>
          <a:p>
            <a:pPr>
              <a:spcAft>
                <a:spcPts val="400"/>
              </a:spcAft>
              <a:defRPr sz="1700">
                <a:solidFill>
                  <a:srgbClr val="B0BEC5"/>
                </a:solidFill>
              </a:defRPr>
            </a:pPr>
          </a:p>
          <a:p>
            <a:pPr>
              <a:spcAft>
                <a:spcPts val="400"/>
              </a:spcAft>
              <a:defRPr sz="1700">
                <a:solidFill>
                  <a:srgbClr val="B0BEC5"/>
                </a:solidFill>
              </a:defRPr>
            </a:pPr>
            <a:r>
              <a:t>• Approach: FST (rule-based) + Neural Network (data-driven)</a:t>
            </a:r>
          </a:p>
          <a:p>
            <a:pPr>
              <a:spcAft>
                <a:spcPts val="400"/>
              </a:spcAft>
              <a:defRPr sz="1700">
                <a:solidFill>
                  <a:srgbClr val="B0BEC5"/>
                </a:solidFill>
              </a:defRPr>
            </a:pPr>
            <a:r>
              <a:t>• Scope: English, Hindi, Bengali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058400" cy="640080"/>
          </a:xfrm>
          <a:prstGeom prst="rect">
            <a:avLst/>
          </a:prstGeom>
          <a:noFill/>
        </p:spPr>
        <p:txBody>
          <a:bodyPr wrap="square">
            <a:spAutoFit/>
          </a:bodyPr>
          <a:lstStyle/>
          <a:p>
            <a:pPr algn="l">
              <a:defRPr sz="3000" b="1">
                <a:solidFill>
                  <a:srgbClr val="53D8FB"/>
                </a:solidFill>
              </a:defRPr>
            </a:pPr>
            <a:r>
              <a:t>Why Morphological Analysis Matters</a:t>
            </a:r>
          </a:p>
        </p:txBody>
      </p:sp>
      <p:sp>
        <p:nvSpPr>
          <p:cNvPr id="4" name="TextBox 3"/>
          <p:cNvSpPr txBox="1"/>
          <p:nvPr/>
        </p:nvSpPr>
        <p:spPr>
          <a:xfrm>
            <a:off x="548640" y="1188720"/>
            <a:ext cx="10515600" cy="5029200"/>
          </a:xfrm>
          <a:prstGeom prst="rect">
            <a:avLst/>
          </a:prstGeom>
          <a:noFill/>
        </p:spPr>
        <p:txBody>
          <a:bodyPr wrap="square">
            <a:spAutoFit/>
          </a:bodyPr>
          <a:lstStyle/>
          <a:p>
            <a:pPr>
              <a:spcAft>
                <a:spcPts val="400"/>
              </a:spcAft>
              <a:defRPr sz="1700">
                <a:solidFill>
                  <a:srgbClr val="B0BEC5"/>
                </a:solidFill>
              </a:defRPr>
            </a:pPr>
            <a:r>
              <a:t>Applications across NLP:</a:t>
            </a:r>
          </a:p>
          <a:p>
            <a:pPr>
              <a:spcAft>
                <a:spcPts val="400"/>
              </a:spcAft>
              <a:defRPr sz="1700">
                <a:solidFill>
                  <a:srgbClr val="B0BEC5"/>
                </a:solidFill>
              </a:defRPr>
            </a:pPr>
          </a:p>
          <a:p>
            <a:pPr>
              <a:spcAft>
                <a:spcPts val="400"/>
              </a:spcAft>
              <a:defRPr sz="1700">
                <a:solidFill>
                  <a:srgbClr val="B0BEC5"/>
                </a:solidFill>
              </a:defRPr>
            </a:pPr>
            <a:r>
              <a:t>• Machine Translation — understanding word structure helps</a:t>
            </a:r>
          </a:p>
          <a:p>
            <a:pPr>
              <a:spcAft>
                <a:spcPts val="400"/>
              </a:spcAft>
              <a:defRPr sz="1700">
                <a:solidFill>
                  <a:srgbClr val="B0BEC5"/>
                </a:solidFill>
              </a:defRPr>
            </a:pPr>
            <a:r>
              <a:t>  align morphemes across languages</a:t>
            </a:r>
          </a:p>
          <a:p>
            <a:pPr>
              <a:spcAft>
                <a:spcPts val="400"/>
              </a:spcAft>
              <a:defRPr sz="1700">
                <a:solidFill>
                  <a:srgbClr val="B0BEC5"/>
                </a:solidFill>
              </a:defRPr>
            </a:pPr>
          </a:p>
          <a:p>
            <a:pPr>
              <a:spcAft>
                <a:spcPts val="400"/>
              </a:spcAft>
              <a:defRPr sz="1700">
                <a:solidFill>
                  <a:srgbClr val="B0BEC5"/>
                </a:solidFill>
              </a:defRPr>
            </a:pPr>
            <a:r>
              <a:t>• Spell Checking — knowing valid morphological combinations</a:t>
            </a:r>
          </a:p>
          <a:p>
            <a:pPr>
              <a:spcAft>
                <a:spcPts val="400"/>
              </a:spcAft>
              <a:defRPr sz="1700">
                <a:solidFill>
                  <a:srgbClr val="B0BEC5"/>
                </a:solidFill>
              </a:defRPr>
            </a:pPr>
            <a:r>
              <a:t>  reduces false positives</a:t>
            </a:r>
          </a:p>
          <a:p>
            <a:pPr>
              <a:spcAft>
                <a:spcPts val="400"/>
              </a:spcAft>
              <a:defRPr sz="1700">
                <a:solidFill>
                  <a:srgbClr val="B0BEC5"/>
                </a:solidFill>
              </a:defRPr>
            </a:pPr>
          </a:p>
          <a:p>
            <a:pPr>
              <a:spcAft>
                <a:spcPts val="400"/>
              </a:spcAft>
              <a:defRPr sz="1700">
                <a:solidFill>
                  <a:srgbClr val="B0BEC5"/>
                </a:solidFill>
              </a:defRPr>
            </a:pPr>
            <a:r>
              <a:t>• Information Retrieval — stemming/lemmatization improves</a:t>
            </a:r>
          </a:p>
          <a:p>
            <a:pPr>
              <a:spcAft>
                <a:spcPts val="400"/>
              </a:spcAft>
              <a:defRPr sz="1700">
                <a:solidFill>
                  <a:srgbClr val="B0BEC5"/>
                </a:solidFill>
              </a:defRPr>
            </a:pPr>
            <a:r>
              <a:t>  search recall (searching → search)</a:t>
            </a:r>
          </a:p>
          <a:p>
            <a:pPr>
              <a:spcAft>
                <a:spcPts val="400"/>
              </a:spcAft>
              <a:defRPr sz="1700">
                <a:solidFill>
                  <a:srgbClr val="B0BEC5"/>
                </a:solidFill>
              </a:defRPr>
            </a:pPr>
          </a:p>
          <a:p>
            <a:pPr>
              <a:spcAft>
                <a:spcPts val="400"/>
              </a:spcAft>
              <a:defRPr sz="1700">
                <a:solidFill>
                  <a:srgbClr val="B0BEC5"/>
                </a:solidFill>
              </a:defRPr>
            </a:pPr>
            <a:r>
              <a:t>• Speech Recognition — morphological models help predict</a:t>
            </a:r>
          </a:p>
          <a:p>
            <a:pPr>
              <a:spcAft>
                <a:spcPts val="400"/>
              </a:spcAft>
              <a:defRPr sz="1700">
                <a:solidFill>
                  <a:srgbClr val="B0BEC5"/>
                </a:solidFill>
              </a:defRPr>
            </a:pPr>
            <a:r>
              <a:t>  word boundaries and inflected forms</a:t>
            </a:r>
          </a:p>
          <a:p>
            <a:pPr>
              <a:spcAft>
                <a:spcPts val="400"/>
              </a:spcAft>
              <a:defRPr sz="1700">
                <a:solidFill>
                  <a:srgbClr val="B0BEC5"/>
                </a:solidFill>
              </a:defRPr>
            </a:pPr>
          </a:p>
          <a:p>
            <a:pPr>
              <a:spcAft>
                <a:spcPts val="400"/>
              </a:spcAft>
              <a:defRPr sz="1700">
                <a:solidFill>
                  <a:srgbClr val="B0BEC5"/>
                </a:solidFill>
              </a:defRPr>
            </a:pPr>
            <a:r>
              <a:t>• Text-to-Speech — correct pronunciation of inflected forms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058400" cy="640080"/>
          </a:xfrm>
          <a:prstGeom prst="rect">
            <a:avLst/>
          </a:prstGeom>
          <a:noFill/>
        </p:spPr>
        <p:txBody>
          <a:bodyPr wrap="square">
            <a:spAutoFit/>
          </a:bodyPr>
          <a:lstStyle/>
          <a:p>
            <a:pPr algn="l">
              <a:defRPr sz="3000" b="1">
                <a:solidFill>
                  <a:srgbClr val="53D8FB"/>
                </a:solidFill>
              </a:defRPr>
            </a:pPr>
            <a:r>
              <a:t>Tools &amp; Technology Stack</a:t>
            </a:r>
          </a:p>
        </p:txBody>
      </p:sp>
      <p:sp>
        <p:nvSpPr>
          <p:cNvPr id="4" name="TextBox 3"/>
          <p:cNvSpPr txBox="1"/>
          <p:nvPr/>
        </p:nvSpPr>
        <p:spPr>
          <a:xfrm>
            <a:off x="548640" y="1188720"/>
            <a:ext cx="10515600" cy="5029200"/>
          </a:xfrm>
          <a:prstGeom prst="rect">
            <a:avLst/>
          </a:prstGeom>
          <a:noFill/>
        </p:spPr>
        <p:txBody>
          <a:bodyPr wrap="square">
            <a:spAutoFit/>
          </a:bodyPr>
          <a:lstStyle/>
          <a:p>
            <a:pPr>
              <a:spcAft>
                <a:spcPts val="400"/>
              </a:spcAft>
              <a:defRPr sz="1700">
                <a:solidFill>
                  <a:srgbClr val="B0BEC5"/>
                </a:solidFill>
              </a:defRPr>
            </a:pPr>
            <a:r>
              <a:t>Core Technologies:</a:t>
            </a:r>
          </a:p>
          <a:p>
            <a:pPr>
              <a:spcAft>
                <a:spcPts val="400"/>
              </a:spcAft>
              <a:defRPr sz="1700">
                <a:solidFill>
                  <a:srgbClr val="B0BEC5"/>
                </a:solidFill>
              </a:defRPr>
            </a:pPr>
            <a:r>
              <a:t>  • Python 3.13 — primary implementation language</a:t>
            </a:r>
          </a:p>
          <a:p>
            <a:pPr>
              <a:spcAft>
                <a:spcPts val="400"/>
              </a:spcAft>
              <a:defRPr sz="1700">
                <a:solidFill>
                  <a:srgbClr val="B0BEC5"/>
                </a:solidFill>
              </a:defRPr>
            </a:pPr>
            <a:r>
              <a:t>  • Pynini (Google) — FST construction library</a:t>
            </a:r>
          </a:p>
          <a:p>
            <a:pPr>
              <a:spcAft>
                <a:spcPts val="400"/>
              </a:spcAft>
              <a:defRPr sz="1700">
                <a:solidFill>
                  <a:srgbClr val="B0BEC5"/>
                </a:solidFill>
              </a:defRPr>
            </a:pPr>
            <a:r>
              <a:t>  • PyTorch — neural network framework</a:t>
            </a:r>
          </a:p>
          <a:p>
            <a:pPr>
              <a:spcAft>
                <a:spcPts val="400"/>
              </a:spcAft>
              <a:defRPr sz="1700">
                <a:solidFill>
                  <a:srgbClr val="B0BEC5"/>
                </a:solidFill>
              </a:defRPr>
            </a:pPr>
          </a:p>
          <a:p>
            <a:pPr>
              <a:spcAft>
                <a:spcPts val="400"/>
              </a:spcAft>
              <a:defRPr sz="1700">
                <a:solidFill>
                  <a:srgbClr val="B0BEC5"/>
                </a:solidFill>
              </a:defRPr>
            </a:pPr>
            <a:r>
              <a:t>Dataset:</a:t>
            </a:r>
          </a:p>
          <a:p>
            <a:pPr>
              <a:spcAft>
                <a:spcPts val="400"/>
              </a:spcAft>
              <a:defRPr sz="1700">
                <a:solidFill>
                  <a:srgbClr val="B0BEC5"/>
                </a:solidFill>
              </a:defRPr>
            </a:pPr>
            <a:r>
              <a:t>  • UniMorph English — 652,478 entries (lemma → form → features)</a:t>
            </a:r>
          </a:p>
          <a:p>
            <a:pPr>
              <a:spcAft>
                <a:spcPts val="400"/>
              </a:spcAft>
              <a:defRPr sz="1700">
                <a:solidFill>
                  <a:srgbClr val="B0BEC5"/>
                </a:solidFill>
              </a:defRPr>
            </a:pPr>
            <a:r>
              <a:t>  • Hindi CoNLL-U treebank — 5,500+ tokens with morph features</a:t>
            </a:r>
          </a:p>
          <a:p>
            <a:pPr>
              <a:spcAft>
                <a:spcPts val="400"/>
              </a:spcAft>
              <a:defRPr sz="1700">
                <a:solidFill>
                  <a:srgbClr val="B0BEC5"/>
                </a:solidFill>
              </a:defRPr>
            </a:pPr>
            <a:r>
              <a:t>  • Bengali CoNLL-U treebank — 320 tokens (55 sentences)</a:t>
            </a:r>
          </a:p>
          <a:p>
            <a:pPr>
              <a:spcAft>
                <a:spcPts val="400"/>
              </a:spcAft>
              <a:defRPr sz="1700">
                <a:solidFill>
                  <a:srgbClr val="B0BEC5"/>
                </a:solidFill>
              </a:defRPr>
            </a:pPr>
          </a:p>
          <a:p>
            <a:pPr>
              <a:spcAft>
                <a:spcPts val="400"/>
              </a:spcAft>
              <a:defRPr sz="1700">
                <a:solidFill>
                  <a:srgbClr val="B0BEC5"/>
                </a:solidFill>
              </a:defRPr>
            </a:pPr>
            <a:r>
              <a:t>Environment:</a:t>
            </a:r>
          </a:p>
          <a:p>
            <a:pPr>
              <a:spcAft>
                <a:spcPts val="400"/>
              </a:spcAft>
              <a:defRPr sz="1700">
                <a:solidFill>
                  <a:srgbClr val="B0BEC5"/>
                </a:solidFill>
              </a:defRPr>
            </a:pPr>
            <a:r>
              <a:t>  • WSL (Windows Subsystem for Linux) — required for pynini</a:t>
            </a:r>
          </a:p>
          <a:p>
            <a:pPr>
              <a:spcAft>
                <a:spcPts val="400"/>
              </a:spcAft>
              <a:defRPr sz="1700">
                <a:solidFill>
                  <a:srgbClr val="B0BEC5"/>
                </a:solidFill>
              </a:defRPr>
            </a:pPr>
            <a:r>
              <a:t>  • GitHub repository: github.com/avikmjd2/fst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058400" cy="640080"/>
          </a:xfrm>
          <a:prstGeom prst="rect">
            <a:avLst/>
          </a:prstGeom>
          <a:noFill/>
        </p:spPr>
        <p:txBody>
          <a:bodyPr wrap="square">
            <a:spAutoFit/>
          </a:bodyPr>
          <a:lstStyle/>
          <a:p>
            <a:pPr algn="l">
              <a:defRPr sz="3000" b="1">
                <a:solidFill>
                  <a:srgbClr val="53D8FB"/>
                </a:solidFill>
              </a:defRPr>
            </a:pPr>
            <a:r>
              <a:t>FST Architecture — How It Works</a:t>
            </a:r>
          </a:p>
        </p:txBody>
      </p:sp>
      <p:sp>
        <p:nvSpPr>
          <p:cNvPr id="4" name="TextBox 3"/>
          <p:cNvSpPr txBox="1"/>
          <p:nvPr/>
        </p:nvSpPr>
        <p:spPr>
          <a:xfrm>
            <a:off x="548640" y="1097280"/>
            <a:ext cx="10058400" cy="548640"/>
          </a:xfrm>
          <a:prstGeom prst="rect">
            <a:avLst/>
          </a:prstGeom>
          <a:noFill/>
        </p:spPr>
        <p:txBody>
          <a:bodyPr wrap="square">
            <a:spAutoFit/>
          </a:bodyPr>
          <a:lstStyle/>
          <a:p>
            <a:pPr algn="l">
              <a:defRPr sz="1900" b="0">
                <a:solidFill>
                  <a:srgbClr val="B0BEC5"/>
                </a:solidFill>
              </a:defRPr>
            </a:pPr>
            <a:r>
              <a:t>Three-stage pipeline: Morphotactics → Spelling Rules → Surface Form</a:t>
            </a:r>
          </a:p>
        </p:txBody>
      </p:sp>
      <p:sp>
        <p:nvSpPr>
          <p:cNvPr id="5" name="Rectangle 4"/>
          <p:cNvSpPr/>
          <p:nvPr/>
        </p:nvSpPr>
        <p:spPr>
          <a:xfrm>
            <a:off x="914400" y="2011680"/>
            <a:ext cx="2926080" cy="164592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103120"/>
            <a:ext cx="2560320" cy="457200"/>
          </a:xfrm>
          <a:prstGeom prst="rect">
            <a:avLst/>
          </a:prstGeom>
          <a:noFill/>
        </p:spPr>
        <p:txBody>
          <a:bodyPr wrap="square">
            <a:spAutoFit/>
          </a:bodyPr>
          <a:lstStyle/>
          <a:p>
            <a:pPr algn="ctr">
              <a:defRPr sz="1800" b="1">
                <a:solidFill>
                  <a:srgbClr val="FFFFFF"/>
                </a:solidFill>
              </a:defRPr>
            </a:pPr>
            <a:r>
              <a:t>Morphotactics</a:t>
            </a:r>
          </a:p>
        </p:txBody>
      </p:sp>
      <p:sp>
        <p:nvSpPr>
          <p:cNvPr id="7" name="TextBox 6"/>
          <p:cNvSpPr txBox="1"/>
          <p:nvPr/>
        </p:nvSpPr>
        <p:spPr>
          <a:xfrm>
            <a:off x="1097280" y="2651760"/>
            <a:ext cx="2560320" cy="914400"/>
          </a:xfrm>
          <a:prstGeom prst="rect">
            <a:avLst/>
          </a:prstGeom>
          <a:noFill/>
        </p:spPr>
        <p:txBody>
          <a:bodyPr wrap="square">
            <a:spAutoFit/>
          </a:bodyPr>
          <a:lstStyle/>
          <a:p>
            <a:pPr algn="ctr">
              <a:defRPr sz="1400" b="0">
                <a:solidFill>
                  <a:srgbClr val="B0BEC5"/>
                </a:solidFill>
              </a:defRPr>
            </a:pPr>
            <a:r>
              <a:t>walk+V;PST → walk^ed</a:t>
            </a:r>
          </a:p>
        </p:txBody>
      </p:sp>
      <p:sp>
        <p:nvSpPr>
          <p:cNvPr id="8" name="Rectangle 7"/>
          <p:cNvSpPr/>
          <p:nvPr/>
        </p:nvSpPr>
        <p:spPr>
          <a:xfrm>
            <a:off x="4389120" y="2011680"/>
            <a:ext cx="2926080" cy="1645920"/>
          </a:xfrm>
          <a:prstGeom prst="rect">
            <a:avLst/>
          </a:prstGeom>
          <a:solidFill>
            <a:srgbClr val="E94E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2103120"/>
            <a:ext cx="2560320" cy="457200"/>
          </a:xfrm>
          <a:prstGeom prst="rect">
            <a:avLst/>
          </a:prstGeom>
          <a:noFill/>
        </p:spPr>
        <p:txBody>
          <a:bodyPr wrap="square">
            <a:spAutoFit/>
          </a:bodyPr>
          <a:lstStyle/>
          <a:p>
            <a:pPr algn="ctr">
              <a:defRPr sz="1800" b="1">
                <a:solidFill>
                  <a:srgbClr val="FFFFFF"/>
                </a:solidFill>
              </a:defRPr>
            </a:pPr>
            <a:r>
              <a:t>Spelling Rules</a:t>
            </a:r>
          </a:p>
        </p:txBody>
      </p:sp>
      <p:sp>
        <p:nvSpPr>
          <p:cNvPr id="10" name="TextBox 9"/>
          <p:cNvSpPr txBox="1"/>
          <p:nvPr/>
        </p:nvSpPr>
        <p:spPr>
          <a:xfrm>
            <a:off x="4572000" y="2651760"/>
            <a:ext cx="2560320" cy="914400"/>
          </a:xfrm>
          <a:prstGeom prst="rect">
            <a:avLst/>
          </a:prstGeom>
          <a:noFill/>
        </p:spPr>
        <p:txBody>
          <a:bodyPr wrap="square">
            <a:spAutoFit/>
          </a:bodyPr>
          <a:lstStyle/>
          <a:p>
            <a:pPr algn="ctr">
              <a:defRPr sz="1400" b="0">
                <a:solidFill>
                  <a:srgbClr val="B0BEC5"/>
                </a:solidFill>
              </a:defRPr>
            </a:pPr>
            <a:r>
              <a:t>walk^ed → walked</a:t>
            </a:r>
            <a:br/>
            <a:r>
              <a:t>hope^ing → hoping</a:t>
            </a:r>
          </a:p>
        </p:txBody>
      </p:sp>
      <p:sp>
        <p:nvSpPr>
          <p:cNvPr id="11" name="Rectangle 10"/>
          <p:cNvSpPr/>
          <p:nvPr/>
        </p:nvSpPr>
        <p:spPr>
          <a:xfrm>
            <a:off x="7863840" y="2011680"/>
            <a:ext cx="2926080" cy="164592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0" y="2103120"/>
            <a:ext cx="2560320" cy="457200"/>
          </a:xfrm>
          <a:prstGeom prst="rect">
            <a:avLst/>
          </a:prstGeom>
          <a:noFill/>
        </p:spPr>
        <p:txBody>
          <a:bodyPr wrap="square">
            <a:spAutoFit/>
          </a:bodyPr>
          <a:lstStyle/>
          <a:p>
            <a:pPr algn="ctr">
              <a:defRPr sz="1800" b="1">
                <a:solidFill>
                  <a:srgbClr val="FFFFFF"/>
                </a:solidFill>
              </a:defRPr>
            </a:pPr>
            <a:r>
              <a:t>Surface Output</a:t>
            </a:r>
          </a:p>
        </p:txBody>
      </p:sp>
      <p:sp>
        <p:nvSpPr>
          <p:cNvPr id="13" name="TextBox 12"/>
          <p:cNvSpPr txBox="1"/>
          <p:nvPr/>
        </p:nvSpPr>
        <p:spPr>
          <a:xfrm>
            <a:off x="8046720" y="2651760"/>
            <a:ext cx="2560320" cy="914400"/>
          </a:xfrm>
          <a:prstGeom prst="rect">
            <a:avLst/>
          </a:prstGeom>
          <a:noFill/>
        </p:spPr>
        <p:txBody>
          <a:bodyPr wrap="square">
            <a:spAutoFit/>
          </a:bodyPr>
          <a:lstStyle/>
          <a:p>
            <a:pPr algn="ctr">
              <a:defRPr sz="1400" b="0">
                <a:solidFill>
                  <a:srgbClr val="B0BEC5"/>
                </a:solidFill>
              </a:defRPr>
            </a:pPr>
            <a:r>
              <a:t>walked, hoping, flies</a:t>
            </a:r>
          </a:p>
        </p:txBody>
      </p:sp>
      <p:sp>
        <p:nvSpPr>
          <p:cNvPr id="14" name="TextBox 13"/>
          <p:cNvSpPr txBox="1"/>
          <p:nvPr/>
        </p:nvSpPr>
        <p:spPr>
          <a:xfrm>
            <a:off x="3840480" y="2560320"/>
            <a:ext cx="731520" cy="365760"/>
          </a:xfrm>
          <a:prstGeom prst="rect">
            <a:avLst/>
          </a:prstGeom>
          <a:noFill/>
        </p:spPr>
        <p:txBody>
          <a:bodyPr wrap="square">
            <a:spAutoFit/>
          </a:bodyPr>
          <a:lstStyle/>
          <a:p>
            <a:pPr algn="ctr">
              <a:defRPr sz="2800" b="1">
                <a:solidFill>
                  <a:srgbClr val="FFD54F"/>
                </a:solidFill>
              </a:defRPr>
            </a:pPr>
            <a:r>
              <a:t>→</a:t>
            </a:r>
          </a:p>
        </p:txBody>
      </p:sp>
      <p:sp>
        <p:nvSpPr>
          <p:cNvPr id="15" name="TextBox 14"/>
          <p:cNvSpPr txBox="1"/>
          <p:nvPr/>
        </p:nvSpPr>
        <p:spPr>
          <a:xfrm>
            <a:off x="7315200" y="2560320"/>
            <a:ext cx="731520" cy="365760"/>
          </a:xfrm>
          <a:prstGeom prst="rect">
            <a:avLst/>
          </a:prstGeom>
          <a:noFill/>
        </p:spPr>
        <p:txBody>
          <a:bodyPr wrap="square">
            <a:spAutoFit/>
          </a:bodyPr>
          <a:lstStyle/>
          <a:p>
            <a:pPr algn="ctr">
              <a:defRPr sz="2800" b="1">
                <a:solidFill>
                  <a:srgbClr val="FFD54F"/>
                </a:solidFill>
              </a:defRPr>
            </a:pPr>
            <a:r>
              <a:t>→</a:t>
            </a:r>
          </a:p>
        </p:txBody>
      </p:sp>
      <p:sp>
        <p:nvSpPr>
          <p:cNvPr id="16" name="TextBox 15"/>
          <p:cNvSpPr txBox="1"/>
          <p:nvPr/>
        </p:nvSpPr>
        <p:spPr>
          <a:xfrm>
            <a:off x="548640" y="4114800"/>
            <a:ext cx="10515600" cy="2286000"/>
          </a:xfrm>
          <a:prstGeom prst="rect">
            <a:avLst/>
          </a:prstGeom>
          <a:noFill/>
        </p:spPr>
        <p:txBody>
          <a:bodyPr wrap="square">
            <a:spAutoFit/>
          </a:bodyPr>
          <a:lstStyle/>
          <a:p>
            <a:pPr>
              <a:spcAft>
                <a:spcPts val="400"/>
              </a:spcAft>
              <a:defRPr sz="1500">
                <a:solidFill>
                  <a:srgbClr val="B0BEC5"/>
                </a:solidFill>
              </a:defRPr>
            </a:pPr>
            <a:r>
              <a:t>Spelling Rules (cdrewrite in pynini):</a:t>
            </a:r>
          </a:p>
          <a:p>
            <a:pPr>
              <a:spcAft>
                <a:spcPts val="400"/>
              </a:spcAft>
              <a:defRPr sz="1500">
                <a:solidFill>
                  <a:srgbClr val="B0BEC5"/>
                </a:solidFill>
              </a:defRPr>
            </a:pPr>
            <a:r>
              <a:t>  Rule 1: y → ie before ^s (consonant context)     fly^s → flies</a:t>
            </a:r>
          </a:p>
          <a:p>
            <a:pPr>
              <a:spcAft>
                <a:spcPts val="400"/>
              </a:spcAft>
              <a:defRPr sz="1500">
                <a:solidFill>
                  <a:srgbClr val="B0BEC5"/>
                </a:solidFill>
              </a:defRPr>
            </a:pPr>
            <a:r>
              <a:t>  Rule 2: y → i before ^ed (consonant context)     carry^ed → carried</a:t>
            </a:r>
          </a:p>
          <a:p>
            <a:pPr>
              <a:spcAft>
                <a:spcPts val="400"/>
              </a:spcAft>
              <a:defRPr sz="1500">
                <a:solidFill>
                  <a:srgbClr val="B0BEC5"/>
                </a:solidFill>
              </a:defRPr>
            </a:pPr>
            <a:r>
              <a:t>  Rule 3: e-deletion before ^ing                   hope^ing → hoping</a:t>
            </a:r>
          </a:p>
          <a:p>
            <a:pPr>
              <a:spcAft>
                <a:spcPts val="400"/>
              </a:spcAft>
              <a:defRPr sz="1500">
                <a:solidFill>
                  <a:srgbClr val="B0BEC5"/>
                </a:solidFill>
              </a:defRPr>
            </a:pPr>
            <a:r>
              <a:t>  Rule 4: e-insertion after sibilant before ^s     watch^s → watches</a:t>
            </a:r>
          </a:p>
          <a:p>
            <a:pPr>
              <a:spcAft>
                <a:spcPts val="400"/>
              </a:spcAft>
              <a:defRPr sz="1500">
                <a:solidFill>
                  <a:srgbClr val="B0BEC5"/>
                </a:solidFill>
              </a:defRPr>
            </a:pPr>
            <a:r>
              <a:t>  Rule 5: boundary ^ deletion                      dog^s → dogs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E94E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926080"/>
            <a:ext cx="2743200" cy="54864"/>
          </a:xfrm>
          <a:prstGeom prst="rect">
            <a:avLst/>
          </a:prstGeom>
          <a:solidFill>
            <a:srgbClr val="E94E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0"/>
            <a:ext cx="3657600" cy="731520"/>
          </a:xfrm>
          <a:prstGeom prst="rect">
            <a:avLst/>
          </a:prstGeom>
          <a:noFill/>
        </p:spPr>
        <p:txBody>
          <a:bodyPr wrap="square">
            <a:spAutoFit/>
          </a:bodyPr>
          <a:lstStyle/>
          <a:p>
            <a:pPr algn="l">
              <a:defRPr sz="1600" b="1">
                <a:solidFill>
                  <a:srgbClr val="E94E77"/>
                </a:solidFill>
              </a:defRPr>
            </a:pPr>
            <a:r>
              <a:t>SECTION 02</a:t>
            </a:r>
          </a:p>
        </p:txBody>
      </p:sp>
      <p:sp>
        <p:nvSpPr>
          <p:cNvPr id="5" name="TextBox 4"/>
          <p:cNvSpPr txBox="1"/>
          <p:nvPr/>
        </p:nvSpPr>
        <p:spPr>
          <a:xfrm>
            <a:off x="731520" y="3200400"/>
            <a:ext cx="10058400" cy="914400"/>
          </a:xfrm>
          <a:prstGeom prst="rect">
            <a:avLst/>
          </a:prstGeom>
          <a:noFill/>
        </p:spPr>
        <p:txBody>
          <a:bodyPr wrap="square">
            <a:spAutoFit/>
          </a:bodyPr>
          <a:lstStyle/>
          <a:p>
            <a:pPr algn="l">
              <a:defRPr sz="3600" b="1">
                <a:solidFill>
                  <a:srgbClr val="FFFFFF"/>
                </a:solidFill>
              </a:defRPr>
            </a:pPr>
            <a:r>
              <a:t>Progress Since Mid-Submission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058400" cy="640080"/>
          </a:xfrm>
          <a:prstGeom prst="rect">
            <a:avLst/>
          </a:prstGeom>
          <a:noFill/>
        </p:spPr>
        <p:txBody>
          <a:bodyPr wrap="square">
            <a:spAutoFit/>
          </a:bodyPr>
          <a:lstStyle/>
          <a:p>
            <a:pPr algn="l">
              <a:defRPr sz="3000" b="1">
                <a:solidFill>
                  <a:srgbClr val="53D8FB"/>
                </a:solidFill>
              </a:defRPr>
            </a:pPr>
            <a:r>
              <a:t>Mid-Term: What We Had</a:t>
            </a:r>
          </a:p>
        </p:txBody>
      </p:sp>
      <p:sp>
        <p:nvSpPr>
          <p:cNvPr id="4" name="TextBox 3"/>
          <p:cNvSpPr txBox="1"/>
          <p:nvPr/>
        </p:nvSpPr>
        <p:spPr>
          <a:xfrm>
            <a:off x="548640" y="1188720"/>
            <a:ext cx="10515600" cy="5029200"/>
          </a:xfrm>
          <a:prstGeom prst="rect">
            <a:avLst/>
          </a:prstGeom>
          <a:noFill/>
        </p:spPr>
        <p:txBody>
          <a:bodyPr wrap="square">
            <a:spAutoFit/>
          </a:bodyPr>
          <a:lstStyle/>
          <a:p>
            <a:pPr>
              <a:spcAft>
                <a:spcPts val="400"/>
              </a:spcAft>
              <a:defRPr sz="1700">
                <a:solidFill>
                  <a:srgbClr val="B0BEC5"/>
                </a:solidFill>
              </a:defRPr>
            </a:pPr>
            <a:r>
              <a:t>At mid-evaluation, we had:</a:t>
            </a:r>
          </a:p>
          <a:p>
            <a:pPr>
              <a:spcAft>
                <a:spcPts val="400"/>
              </a:spcAft>
              <a:defRPr sz="1700">
                <a:solidFill>
                  <a:srgbClr val="B0BEC5"/>
                </a:solidFill>
              </a:defRPr>
            </a:pPr>
          </a:p>
          <a:p>
            <a:pPr>
              <a:spcAft>
                <a:spcPts val="400"/>
              </a:spcAft>
              <a:defRPr sz="1700">
                <a:solidFill>
                  <a:srgbClr val="B0BEC5"/>
                </a:solidFill>
              </a:defRPr>
            </a:pPr>
            <a:r>
              <a:t>• Basic English FST with morphotactics for nouns, verbs, adjectives</a:t>
            </a:r>
          </a:p>
          <a:p>
            <a:pPr>
              <a:spcAft>
                <a:spcPts val="400"/>
              </a:spcAft>
              <a:defRPr sz="1700">
                <a:solidFill>
                  <a:srgbClr val="B0BEC5"/>
                </a:solidFill>
              </a:defRPr>
            </a:pPr>
            <a:r>
              <a:t>• 5 spelling rules (y→ie, y→i, e-deletion, e-insertion, boundary deletion)</a:t>
            </a:r>
          </a:p>
          <a:p>
            <a:pPr>
              <a:spcAft>
                <a:spcPts val="400"/>
              </a:spcAft>
              <a:defRPr sz="1700">
                <a:solidFill>
                  <a:srgbClr val="B0BEC5"/>
                </a:solidFill>
              </a:defRPr>
            </a:pPr>
            <a:r>
              <a:t>• Irregular forms table (~150 entries)</a:t>
            </a:r>
          </a:p>
          <a:p>
            <a:pPr>
              <a:spcAft>
                <a:spcPts val="400"/>
              </a:spcAft>
              <a:defRPr sz="1700">
                <a:solidFill>
                  <a:srgbClr val="B0BEC5"/>
                </a:solidFill>
              </a:defRPr>
            </a:pPr>
            <a:r>
              <a:t>• Command-line analyzer (main.py)</a:t>
            </a:r>
          </a:p>
          <a:p>
            <a:pPr>
              <a:spcAft>
                <a:spcPts val="400"/>
              </a:spcAft>
              <a:defRPr sz="1700">
                <a:solidFill>
                  <a:srgbClr val="B0BEC5"/>
                </a:solidFill>
              </a:defRPr>
            </a:pPr>
            <a:r>
              <a:t>• Initial evaluation: 25.4% accuracy on UniMorph</a:t>
            </a:r>
          </a:p>
          <a:p>
            <a:pPr>
              <a:spcAft>
                <a:spcPts val="400"/>
              </a:spcAft>
              <a:defRPr sz="1700">
                <a:solidFill>
                  <a:srgbClr val="B0BEC5"/>
                </a:solidFill>
              </a:defRPr>
            </a:pPr>
          </a:p>
          <a:p>
            <a:pPr>
              <a:spcAft>
                <a:spcPts val="400"/>
              </a:spcAft>
              <a:defRPr sz="1700">
                <a:solidFill>
                  <a:srgbClr val="B0BEC5"/>
                </a:solidFill>
              </a:defRPr>
            </a:pPr>
            <a:r>
              <a:t>Key limitation: no cross-lingual support, no neural fallback,</a:t>
            </a:r>
          </a:p>
          <a:p>
            <a:pPr>
              <a:spcAft>
                <a:spcPts val="400"/>
              </a:spcAft>
              <a:defRPr sz="1700">
                <a:solidFill>
                  <a:srgbClr val="B0BEC5"/>
                </a:solidFill>
              </a:defRPr>
            </a:pPr>
            <a:r>
              <a:t>high OOV rate (63% of words unseen)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058400" cy="640080"/>
          </a:xfrm>
          <a:prstGeom prst="rect">
            <a:avLst/>
          </a:prstGeom>
          <a:noFill/>
        </p:spPr>
        <p:txBody>
          <a:bodyPr wrap="square">
            <a:spAutoFit/>
          </a:bodyPr>
          <a:lstStyle/>
          <a:p>
            <a:pPr algn="l">
              <a:defRPr sz="3000" b="1">
                <a:solidFill>
                  <a:srgbClr val="53D8FB"/>
                </a:solidFill>
              </a:defRPr>
            </a:pPr>
            <a:r>
              <a:t>Post Mid-Term Milestones</a:t>
            </a:r>
          </a:p>
        </p:txBody>
      </p:sp>
      <p:sp>
        <p:nvSpPr>
          <p:cNvPr id="4" name="TextBox 3"/>
          <p:cNvSpPr txBox="1"/>
          <p:nvPr/>
        </p:nvSpPr>
        <p:spPr>
          <a:xfrm>
            <a:off x="548640" y="1188720"/>
            <a:ext cx="10515600" cy="5029200"/>
          </a:xfrm>
          <a:prstGeom prst="rect">
            <a:avLst/>
          </a:prstGeom>
          <a:noFill/>
        </p:spPr>
        <p:txBody>
          <a:bodyPr wrap="square">
            <a:spAutoFit/>
          </a:bodyPr>
          <a:lstStyle/>
          <a:p>
            <a:pPr>
              <a:spcAft>
                <a:spcPts val="400"/>
              </a:spcAft>
              <a:defRPr sz="1700">
                <a:solidFill>
                  <a:srgbClr val="B0BEC5"/>
                </a:solidFill>
              </a:defRPr>
            </a:pPr>
            <a:r>
              <a:t>Rushil's contributions:</a:t>
            </a:r>
          </a:p>
          <a:p>
            <a:pPr>
              <a:spcAft>
                <a:spcPts val="400"/>
              </a:spcAft>
              <a:defRPr sz="1700">
                <a:solidFill>
                  <a:srgbClr val="B0BEC5"/>
                </a:solidFill>
              </a:defRPr>
            </a:pPr>
            <a:r>
              <a:t>  • Hindi FST extension (2,011 vocabulary words)</a:t>
            </a:r>
          </a:p>
          <a:p>
            <a:pPr>
              <a:spcAft>
                <a:spcPts val="400"/>
              </a:spcAft>
              <a:defRPr sz="1700">
                <a:solidFill>
                  <a:srgbClr val="B0BEC5"/>
                </a:solidFill>
              </a:defRPr>
            </a:pPr>
            <a:r>
              <a:t>  • Devanagari grapheme-level state traversal</a:t>
            </a:r>
          </a:p>
          <a:p>
            <a:pPr>
              <a:spcAft>
                <a:spcPts val="400"/>
              </a:spcAft>
              <a:defRPr sz="1700">
                <a:solidFill>
                  <a:srgbClr val="B0BEC5"/>
                </a:solidFill>
              </a:defRPr>
            </a:pPr>
            <a:r>
              <a:t>  • Evaluation pipeline for all languages</a:t>
            </a:r>
          </a:p>
          <a:p>
            <a:pPr>
              <a:spcAft>
                <a:spcPts val="400"/>
              </a:spcAft>
              <a:defRPr sz="1700">
                <a:solidFill>
                  <a:srgbClr val="B0BEC5"/>
                </a:solidFill>
              </a:defRPr>
            </a:pPr>
            <a:r>
              <a:t>  • Website UI refinements</a:t>
            </a:r>
          </a:p>
          <a:p>
            <a:pPr>
              <a:spcAft>
                <a:spcPts val="400"/>
              </a:spcAft>
              <a:defRPr sz="1700">
                <a:solidFill>
                  <a:srgbClr val="B0BEC5"/>
                </a:solidFill>
              </a:defRPr>
            </a:pPr>
          </a:p>
          <a:p>
            <a:pPr>
              <a:spcAft>
                <a:spcPts val="400"/>
              </a:spcAft>
              <a:defRPr sz="1700">
                <a:solidFill>
                  <a:srgbClr val="B0BEC5"/>
                </a:solidFill>
              </a:defRPr>
            </a:pPr>
            <a:r>
              <a:t>Avik's contributions:</a:t>
            </a:r>
          </a:p>
          <a:p>
            <a:pPr>
              <a:spcAft>
                <a:spcPts val="400"/>
              </a:spcAft>
              <a:defRPr sz="1700">
                <a:solidFill>
                  <a:srgbClr val="B0BEC5"/>
                </a:solidFill>
              </a:defRPr>
            </a:pPr>
            <a:r>
              <a:t>  • Bengali FST analyzer (320 tokens, 55 sentences)</a:t>
            </a:r>
          </a:p>
          <a:p>
            <a:pPr>
              <a:spcAft>
                <a:spcPts val="400"/>
              </a:spcAft>
              <a:defRPr sz="1700">
                <a:solidFill>
                  <a:srgbClr val="B0BEC5"/>
                </a:solidFill>
              </a:defRPr>
            </a:pPr>
            <a:r>
              <a:t>  • Neural Network (char-level Transformer) — 74.3% hybrid accuracy</a:t>
            </a:r>
          </a:p>
          <a:p>
            <a:pPr>
              <a:spcAft>
                <a:spcPts val="400"/>
              </a:spcAft>
              <a:defRPr sz="1700">
                <a:solidFill>
                  <a:srgbClr val="B0BEC5"/>
                </a:solidFill>
              </a:defRPr>
            </a:pPr>
            <a:r>
              <a:t>  • Main website interface + graph visualizations</a:t>
            </a:r>
          </a:p>
          <a:p>
            <a:pPr>
              <a:spcAft>
                <a:spcPts val="400"/>
              </a:spcAft>
              <a:defRPr sz="1700">
                <a:solidFill>
                  <a:srgbClr val="B0BEC5"/>
                </a:solidFill>
              </a:defRPr>
            </a:pPr>
            <a:r>
              <a:t>  • State traversal visualization system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058400" cy="640080"/>
          </a:xfrm>
          <a:prstGeom prst="rect">
            <a:avLst/>
          </a:prstGeom>
          <a:noFill/>
        </p:spPr>
        <p:txBody>
          <a:bodyPr wrap="square">
            <a:spAutoFit/>
          </a:bodyPr>
          <a:lstStyle/>
          <a:p>
            <a:pPr algn="l">
              <a:defRPr sz="3000" b="1">
                <a:solidFill>
                  <a:srgbClr val="53D8FB"/>
                </a:solidFill>
              </a:defRPr>
            </a:pPr>
            <a:r>
              <a:t>Architecture: Before vs After</a:t>
            </a:r>
          </a:p>
        </p:txBody>
      </p:sp>
      <p:sp>
        <p:nvSpPr>
          <p:cNvPr id="4" name="Rectangle 3"/>
          <p:cNvSpPr/>
          <p:nvPr/>
        </p:nvSpPr>
        <p:spPr>
          <a:xfrm>
            <a:off x="548640" y="1280160"/>
            <a:ext cx="5029200" cy="4754880"/>
          </a:xfrm>
          <a:prstGeom prst="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4572000" cy="457200"/>
          </a:xfrm>
          <a:prstGeom prst="rect">
            <a:avLst/>
          </a:prstGeom>
          <a:noFill/>
        </p:spPr>
        <p:txBody>
          <a:bodyPr wrap="square">
            <a:spAutoFit/>
          </a:bodyPr>
          <a:lstStyle/>
          <a:p>
            <a:pPr algn="ctr">
              <a:defRPr sz="2000" b="1">
                <a:solidFill>
                  <a:srgbClr val="E94E77"/>
                </a:solidFill>
              </a:defRPr>
            </a:pPr>
            <a:r>
              <a:t>MID-TERM (Before)</a:t>
            </a:r>
          </a:p>
        </p:txBody>
      </p:sp>
      <p:sp>
        <p:nvSpPr>
          <p:cNvPr id="6" name="TextBox 5"/>
          <p:cNvSpPr txBox="1"/>
          <p:nvPr/>
        </p:nvSpPr>
        <p:spPr>
          <a:xfrm>
            <a:off x="731520" y="2011680"/>
            <a:ext cx="4572000" cy="3657600"/>
          </a:xfrm>
          <a:prstGeom prst="rect">
            <a:avLst/>
          </a:prstGeom>
          <a:noFill/>
        </p:spPr>
        <p:txBody>
          <a:bodyPr wrap="square">
            <a:spAutoFit/>
          </a:bodyPr>
          <a:lstStyle/>
          <a:p>
            <a:pPr>
              <a:spcAft>
                <a:spcPts val="400"/>
              </a:spcAft>
              <a:defRPr sz="1600">
                <a:solidFill>
                  <a:srgbClr val="B0BEC5"/>
                </a:solidFill>
              </a:defRPr>
            </a:pPr>
            <a:r>
              <a:t>• English only</a:t>
            </a:r>
          </a:p>
          <a:p>
            <a:pPr>
              <a:spcAft>
                <a:spcPts val="400"/>
              </a:spcAft>
              <a:defRPr sz="1600">
                <a:solidFill>
                  <a:srgbClr val="B0BEC5"/>
                </a:solidFill>
              </a:defRPr>
            </a:pPr>
            <a:r>
              <a:t>• Rule-based FST only</a:t>
            </a:r>
          </a:p>
          <a:p>
            <a:pPr>
              <a:spcAft>
                <a:spcPts val="400"/>
              </a:spcAft>
              <a:defRPr sz="1600">
                <a:solidFill>
                  <a:srgbClr val="B0BEC5"/>
                </a:solidFill>
              </a:defRPr>
            </a:pPr>
            <a:r>
              <a:t>• 25.4% accuracy</a:t>
            </a:r>
          </a:p>
          <a:p>
            <a:pPr>
              <a:spcAft>
                <a:spcPts val="400"/>
              </a:spcAft>
              <a:defRPr sz="1600">
                <a:solidFill>
                  <a:srgbClr val="B0BEC5"/>
                </a:solidFill>
              </a:defRPr>
            </a:pPr>
            <a:r>
              <a:t>• 36.9% coverage</a:t>
            </a:r>
          </a:p>
          <a:p>
            <a:pPr>
              <a:spcAft>
                <a:spcPts val="400"/>
              </a:spcAft>
              <a:defRPr sz="1600">
                <a:solidFill>
                  <a:srgbClr val="B0BEC5"/>
                </a:solidFill>
              </a:defRPr>
            </a:pPr>
            <a:r>
              <a:t>• ~150 irregular forms</a:t>
            </a:r>
          </a:p>
          <a:p>
            <a:pPr>
              <a:spcAft>
                <a:spcPts val="400"/>
              </a:spcAft>
              <a:defRPr sz="1600">
                <a:solidFill>
                  <a:srgbClr val="B0BEC5"/>
                </a:solidFill>
              </a:defRPr>
            </a:pPr>
            <a:r>
              <a:t>• CLI interface only</a:t>
            </a:r>
          </a:p>
          <a:p>
            <a:pPr>
              <a:spcAft>
                <a:spcPts val="400"/>
              </a:spcAft>
              <a:defRPr sz="1600">
                <a:solidFill>
                  <a:srgbClr val="B0BEC5"/>
                </a:solidFill>
              </a:defRPr>
            </a:pPr>
            <a:r>
              <a:t>• No state visualization</a:t>
            </a:r>
          </a:p>
        </p:txBody>
      </p:sp>
      <p:sp>
        <p:nvSpPr>
          <p:cNvPr id="7" name="Rectangle 6"/>
          <p:cNvSpPr/>
          <p:nvPr/>
        </p:nvSpPr>
        <p:spPr>
          <a:xfrm>
            <a:off x="6400800" y="1280160"/>
            <a:ext cx="5029200" cy="4754880"/>
          </a:xfrm>
          <a:prstGeom prst="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371600"/>
            <a:ext cx="4572000" cy="457200"/>
          </a:xfrm>
          <a:prstGeom prst="rect">
            <a:avLst/>
          </a:prstGeom>
          <a:noFill/>
        </p:spPr>
        <p:txBody>
          <a:bodyPr wrap="square">
            <a:spAutoFit/>
          </a:bodyPr>
          <a:lstStyle/>
          <a:p>
            <a:pPr algn="ctr">
              <a:defRPr sz="2000" b="1">
                <a:solidFill>
                  <a:srgbClr val="4CAF50"/>
                </a:solidFill>
              </a:defRPr>
            </a:pPr>
            <a:r>
              <a:t>FINAL (After)</a:t>
            </a:r>
          </a:p>
        </p:txBody>
      </p:sp>
      <p:sp>
        <p:nvSpPr>
          <p:cNvPr id="9" name="TextBox 8"/>
          <p:cNvSpPr txBox="1"/>
          <p:nvPr/>
        </p:nvSpPr>
        <p:spPr>
          <a:xfrm>
            <a:off x="6583680" y="2011680"/>
            <a:ext cx="4572000" cy="3657600"/>
          </a:xfrm>
          <a:prstGeom prst="rect">
            <a:avLst/>
          </a:prstGeom>
          <a:noFill/>
        </p:spPr>
        <p:txBody>
          <a:bodyPr wrap="square">
            <a:spAutoFit/>
          </a:bodyPr>
          <a:lstStyle/>
          <a:p>
            <a:pPr>
              <a:spcAft>
                <a:spcPts val="400"/>
              </a:spcAft>
              <a:defRPr sz="1600">
                <a:solidFill>
                  <a:srgbClr val="B0BEC5"/>
                </a:solidFill>
              </a:defRPr>
            </a:pPr>
            <a:r>
              <a:t>• English + Hindi + Bengali</a:t>
            </a:r>
          </a:p>
          <a:p>
            <a:pPr>
              <a:spcAft>
                <a:spcPts val="400"/>
              </a:spcAft>
              <a:defRPr sz="1600">
                <a:solidFill>
                  <a:srgbClr val="B0BEC5"/>
                </a:solidFill>
              </a:defRPr>
            </a:pPr>
            <a:r>
              <a:t>• Hybrid: FST + Neural fallback</a:t>
            </a:r>
          </a:p>
          <a:p>
            <a:pPr>
              <a:spcAft>
                <a:spcPts val="400"/>
              </a:spcAft>
              <a:defRPr sz="1600">
                <a:solidFill>
                  <a:srgbClr val="B0BEC5"/>
                </a:solidFill>
              </a:defRPr>
            </a:pPr>
            <a:r>
              <a:t>• 74.3% accuracy (hybrid)</a:t>
            </a:r>
          </a:p>
          <a:p>
            <a:pPr>
              <a:spcAft>
                <a:spcPts val="400"/>
              </a:spcAft>
              <a:defRPr sz="1600">
                <a:solidFill>
                  <a:srgbClr val="B0BEC5"/>
                </a:solidFill>
              </a:defRPr>
            </a:pPr>
            <a:r>
              <a:t>• 100% coverage (hybrid)</a:t>
            </a:r>
          </a:p>
          <a:p>
            <a:pPr>
              <a:spcAft>
                <a:spcPts val="400"/>
              </a:spcAft>
              <a:defRPr sz="1600">
                <a:solidFill>
                  <a:srgbClr val="B0BEC5"/>
                </a:solidFill>
              </a:defRPr>
            </a:pPr>
            <a:r>
              <a:t>• 2,011 Hindi + 320 Bengali tokens</a:t>
            </a:r>
          </a:p>
          <a:p>
            <a:pPr>
              <a:spcAft>
                <a:spcPts val="400"/>
              </a:spcAft>
              <a:defRPr sz="1600">
                <a:solidFill>
                  <a:srgbClr val="B0BEC5"/>
                </a:solidFill>
              </a:defRPr>
            </a:pPr>
            <a:r>
              <a:t>• CLI + Web interface</a:t>
            </a:r>
          </a:p>
          <a:p>
            <a:pPr>
              <a:spcAft>
                <a:spcPts val="400"/>
              </a:spcAft>
              <a:defRPr sz="1600">
                <a:solidFill>
                  <a:srgbClr val="B0BEC5"/>
                </a:solidFill>
              </a:defRPr>
            </a:pPr>
            <a:r>
              <a:t>• Real pynini state traversal viz</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E94E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926080"/>
            <a:ext cx="2743200" cy="54864"/>
          </a:xfrm>
          <a:prstGeom prst="rect">
            <a:avLst/>
          </a:prstGeom>
          <a:solidFill>
            <a:srgbClr val="E94E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0"/>
            <a:ext cx="3657600" cy="731520"/>
          </a:xfrm>
          <a:prstGeom prst="rect">
            <a:avLst/>
          </a:prstGeom>
          <a:noFill/>
        </p:spPr>
        <p:txBody>
          <a:bodyPr wrap="square">
            <a:spAutoFit/>
          </a:bodyPr>
          <a:lstStyle/>
          <a:p>
            <a:pPr algn="l">
              <a:defRPr sz="1600" b="1">
                <a:solidFill>
                  <a:srgbClr val="E94E77"/>
                </a:solidFill>
              </a:defRPr>
            </a:pPr>
            <a:r>
              <a:t>SECTION 03</a:t>
            </a:r>
          </a:p>
        </p:txBody>
      </p:sp>
      <p:sp>
        <p:nvSpPr>
          <p:cNvPr id="5" name="TextBox 4"/>
          <p:cNvSpPr txBox="1"/>
          <p:nvPr/>
        </p:nvSpPr>
        <p:spPr>
          <a:xfrm>
            <a:off x="731520" y="3200400"/>
            <a:ext cx="10058400" cy="914400"/>
          </a:xfrm>
          <a:prstGeom prst="rect">
            <a:avLst/>
          </a:prstGeom>
          <a:noFill/>
        </p:spPr>
        <p:txBody>
          <a:bodyPr wrap="square">
            <a:spAutoFit/>
          </a:bodyPr>
          <a:lstStyle/>
          <a:p>
            <a:pPr algn="l">
              <a:defRPr sz="3600" b="1">
                <a:solidFill>
                  <a:srgbClr val="FFFFFF"/>
                </a:solidFill>
              </a:defRPr>
            </a:pPr>
            <a:r>
              <a:t>Overall Results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058400" cy="640080"/>
          </a:xfrm>
          <a:prstGeom prst="rect">
            <a:avLst/>
          </a:prstGeom>
          <a:noFill/>
        </p:spPr>
        <p:txBody>
          <a:bodyPr wrap="square">
            <a:spAutoFit/>
          </a:bodyPr>
          <a:lstStyle/>
          <a:p>
            <a:pPr algn="l">
              <a:defRPr sz="3000" b="1">
                <a:solidFill>
                  <a:srgbClr val="53D8FB"/>
                </a:solidFill>
              </a:defRPr>
            </a:pPr>
            <a:r>
              <a:t>English FST — Performance Metrics</a:t>
            </a:r>
          </a:p>
        </p:txBody>
      </p:sp>
      <p:sp>
        <p:nvSpPr>
          <p:cNvPr id="4" name="Rectangle 3"/>
          <p:cNvSpPr/>
          <p:nvPr/>
        </p:nvSpPr>
        <p:spPr>
          <a:xfrm>
            <a:off x="914400" y="1188720"/>
            <a:ext cx="10058400" cy="548640"/>
          </a:xfrm>
          <a:prstGeom prst="rect">
            <a:avLst/>
          </a:prstGeom>
          <a:solidFill>
            <a:srgbClr val="003D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280160"/>
            <a:ext cx="2286000" cy="365760"/>
          </a:xfrm>
          <a:prstGeom prst="rect">
            <a:avLst/>
          </a:prstGeom>
          <a:noFill/>
        </p:spPr>
        <p:txBody>
          <a:bodyPr wrap="square">
            <a:spAutoFit/>
          </a:bodyPr>
          <a:lstStyle/>
          <a:p>
            <a:pPr algn="ctr">
              <a:defRPr sz="1500" b="1">
                <a:solidFill>
                  <a:srgbClr val="FFFFFF"/>
                </a:solidFill>
              </a:defRPr>
            </a:pPr>
            <a:r>
              <a:t>Metric</a:t>
            </a:r>
          </a:p>
        </p:txBody>
      </p:sp>
      <p:sp>
        <p:nvSpPr>
          <p:cNvPr id="6" name="TextBox 5"/>
          <p:cNvSpPr txBox="1"/>
          <p:nvPr/>
        </p:nvSpPr>
        <p:spPr>
          <a:xfrm>
            <a:off x="3429000" y="1280160"/>
            <a:ext cx="2286000" cy="365760"/>
          </a:xfrm>
          <a:prstGeom prst="rect">
            <a:avLst/>
          </a:prstGeom>
          <a:noFill/>
        </p:spPr>
        <p:txBody>
          <a:bodyPr wrap="square">
            <a:spAutoFit/>
          </a:bodyPr>
          <a:lstStyle/>
          <a:p>
            <a:pPr algn="ctr">
              <a:defRPr sz="1500" b="1">
                <a:solidFill>
                  <a:srgbClr val="FFFFFF"/>
                </a:solidFill>
              </a:defRPr>
            </a:pPr>
            <a:r>
              <a:t>Pure FST</a:t>
            </a:r>
          </a:p>
        </p:txBody>
      </p:sp>
      <p:sp>
        <p:nvSpPr>
          <p:cNvPr id="7" name="TextBox 6"/>
          <p:cNvSpPr txBox="1"/>
          <p:nvPr/>
        </p:nvSpPr>
        <p:spPr>
          <a:xfrm>
            <a:off x="5943600" y="1280160"/>
            <a:ext cx="2286000" cy="365760"/>
          </a:xfrm>
          <a:prstGeom prst="rect">
            <a:avLst/>
          </a:prstGeom>
          <a:noFill/>
        </p:spPr>
        <p:txBody>
          <a:bodyPr wrap="square">
            <a:spAutoFit/>
          </a:bodyPr>
          <a:lstStyle/>
          <a:p>
            <a:pPr algn="ctr">
              <a:defRPr sz="1500" b="1">
                <a:solidFill>
                  <a:srgbClr val="FFFFFF"/>
                </a:solidFill>
              </a:defRPr>
            </a:pPr>
            <a:r>
              <a:t>Hybrid (FST+Neural)</a:t>
            </a:r>
          </a:p>
        </p:txBody>
      </p:sp>
      <p:sp>
        <p:nvSpPr>
          <p:cNvPr id="8" name="TextBox 7"/>
          <p:cNvSpPr txBox="1"/>
          <p:nvPr/>
        </p:nvSpPr>
        <p:spPr>
          <a:xfrm>
            <a:off x="8458200" y="1280160"/>
            <a:ext cx="2286000" cy="365760"/>
          </a:xfrm>
          <a:prstGeom prst="rect">
            <a:avLst/>
          </a:prstGeom>
          <a:noFill/>
        </p:spPr>
        <p:txBody>
          <a:bodyPr wrap="square">
            <a:spAutoFit/>
          </a:bodyPr>
          <a:lstStyle/>
          <a:p>
            <a:pPr algn="ctr">
              <a:defRPr sz="1500" b="1">
                <a:solidFill>
                  <a:srgbClr val="FFFFFF"/>
                </a:solidFill>
              </a:defRPr>
            </a:pPr>
            <a:r>
              <a:t>Improvement</a:t>
            </a:r>
          </a:p>
        </p:txBody>
      </p:sp>
      <p:sp>
        <p:nvSpPr>
          <p:cNvPr id="9" name="Rectangle 8"/>
          <p:cNvSpPr/>
          <p:nvPr/>
        </p:nvSpPr>
        <p:spPr>
          <a:xfrm>
            <a:off x="914400" y="1783080"/>
            <a:ext cx="10058400" cy="548640"/>
          </a:xfrm>
          <a:prstGeom prst="rect">
            <a:avLst/>
          </a:prstGeom>
          <a:solidFill>
            <a:srgbClr val="15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874520"/>
            <a:ext cx="2286000" cy="365760"/>
          </a:xfrm>
          <a:prstGeom prst="rect">
            <a:avLst/>
          </a:prstGeom>
          <a:noFill/>
        </p:spPr>
        <p:txBody>
          <a:bodyPr wrap="square">
            <a:spAutoFit/>
          </a:bodyPr>
          <a:lstStyle/>
          <a:p>
            <a:pPr algn="ctr">
              <a:defRPr sz="1600" b="0">
                <a:solidFill>
                  <a:srgbClr val="B0BEC5"/>
                </a:solidFill>
              </a:defRPr>
            </a:pPr>
            <a:r>
              <a:t>Total Evaluated</a:t>
            </a:r>
          </a:p>
        </p:txBody>
      </p:sp>
      <p:sp>
        <p:nvSpPr>
          <p:cNvPr id="11" name="TextBox 10"/>
          <p:cNvSpPr txBox="1"/>
          <p:nvPr/>
        </p:nvSpPr>
        <p:spPr>
          <a:xfrm>
            <a:off x="3429000" y="1874520"/>
            <a:ext cx="2286000" cy="365760"/>
          </a:xfrm>
          <a:prstGeom prst="rect">
            <a:avLst/>
          </a:prstGeom>
          <a:noFill/>
        </p:spPr>
        <p:txBody>
          <a:bodyPr wrap="square">
            <a:spAutoFit/>
          </a:bodyPr>
          <a:lstStyle/>
          <a:p>
            <a:pPr algn="ctr">
              <a:defRPr sz="1600" b="0">
                <a:solidFill>
                  <a:srgbClr val="B0BEC5"/>
                </a:solidFill>
              </a:defRPr>
            </a:pPr>
            <a:r>
              <a:t>5,000</a:t>
            </a:r>
          </a:p>
        </p:txBody>
      </p:sp>
      <p:sp>
        <p:nvSpPr>
          <p:cNvPr id="12" name="TextBox 11"/>
          <p:cNvSpPr txBox="1"/>
          <p:nvPr/>
        </p:nvSpPr>
        <p:spPr>
          <a:xfrm>
            <a:off x="5943600" y="1874520"/>
            <a:ext cx="2286000" cy="365760"/>
          </a:xfrm>
          <a:prstGeom prst="rect">
            <a:avLst/>
          </a:prstGeom>
          <a:noFill/>
        </p:spPr>
        <p:txBody>
          <a:bodyPr wrap="square">
            <a:spAutoFit/>
          </a:bodyPr>
          <a:lstStyle/>
          <a:p>
            <a:pPr algn="ctr">
              <a:defRPr sz="1600" b="0">
                <a:solidFill>
                  <a:srgbClr val="B0BEC5"/>
                </a:solidFill>
              </a:defRPr>
            </a:pPr>
            <a:r>
              <a:t>5,000</a:t>
            </a:r>
          </a:p>
        </p:txBody>
      </p:sp>
      <p:sp>
        <p:nvSpPr>
          <p:cNvPr id="13" name="TextBox 12"/>
          <p:cNvSpPr txBox="1"/>
          <p:nvPr/>
        </p:nvSpPr>
        <p:spPr>
          <a:xfrm>
            <a:off x="8458200" y="1874520"/>
            <a:ext cx="2286000" cy="365760"/>
          </a:xfrm>
          <a:prstGeom prst="rect">
            <a:avLst/>
          </a:prstGeom>
          <a:noFill/>
        </p:spPr>
        <p:txBody>
          <a:bodyPr wrap="square">
            <a:spAutoFit/>
          </a:bodyPr>
          <a:lstStyle/>
          <a:p>
            <a:pPr algn="ctr">
              <a:defRPr sz="1600" b="0">
                <a:solidFill>
                  <a:srgbClr val="B0BEC5"/>
                </a:solidFill>
              </a:defRPr>
            </a:pPr>
            <a:r>
              <a:t>—</a:t>
            </a:r>
          </a:p>
        </p:txBody>
      </p:sp>
      <p:sp>
        <p:nvSpPr>
          <p:cNvPr id="14" name="Rectangle 13"/>
          <p:cNvSpPr/>
          <p:nvPr/>
        </p:nvSpPr>
        <p:spPr>
          <a:xfrm>
            <a:off x="914400" y="2377440"/>
            <a:ext cx="10058400" cy="548640"/>
          </a:xfrm>
          <a:prstGeom prst="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468880"/>
            <a:ext cx="2286000" cy="365760"/>
          </a:xfrm>
          <a:prstGeom prst="rect">
            <a:avLst/>
          </a:prstGeom>
          <a:noFill/>
        </p:spPr>
        <p:txBody>
          <a:bodyPr wrap="square">
            <a:spAutoFit/>
          </a:bodyPr>
          <a:lstStyle/>
          <a:p>
            <a:pPr algn="ctr">
              <a:defRPr sz="1600" b="0">
                <a:solidFill>
                  <a:srgbClr val="B0BEC5"/>
                </a:solidFill>
              </a:defRPr>
            </a:pPr>
            <a:r>
              <a:t>Coverage</a:t>
            </a:r>
          </a:p>
        </p:txBody>
      </p:sp>
      <p:sp>
        <p:nvSpPr>
          <p:cNvPr id="16" name="TextBox 15"/>
          <p:cNvSpPr txBox="1"/>
          <p:nvPr/>
        </p:nvSpPr>
        <p:spPr>
          <a:xfrm>
            <a:off x="3429000" y="2468880"/>
            <a:ext cx="2286000" cy="365760"/>
          </a:xfrm>
          <a:prstGeom prst="rect">
            <a:avLst/>
          </a:prstGeom>
          <a:noFill/>
        </p:spPr>
        <p:txBody>
          <a:bodyPr wrap="square">
            <a:spAutoFit/>
          </a:bodyPr>
          <a:lstStyle/>
          <a:p>
            <a:pPr algn="ctr">
              <a:defRPr sz="1600" b="0">
                <a:solidFill>
                  <a:srgbClr val="B0BEC5"/>
                </a:solidFill>
              </a:defRPr>
            </a:pPr>
            <a:r>
              <a:t>36.9%</a:t>
            </a:r>
          </a:p>
        </p:txBody>
      </p:sp>
      <p:sp>
        <p:nvSpPr>
          <p:cNvPr id="17" name="TextBox 16"/>
          <p:cNvSpPr txBox="1"/>
          <p:nvPr/>
        </p:nvSpPr>
        <p:spPr>
          <a:xfrm>
            <a:off x="5943600" y="2468880"/>
            <a:ext cx="2286000" cy="365760"/>
          </a:xfrm>
          <a:prstGeom prst="rect">
            <a:avLst/>
          </a:prstGeom>
          <a:noFill/>
        </p:spPr>
        <p:txBody>
          <a:bodyPr wrap="square">
            <a:spAutoFit/>
          </a:bodyPr>
          <a:lstStyle/>
          <a:p>
            <a:pPr algn="ctr">
              <a:defRPr sz="1600" b="0">
                <a:solidFill>
                  <a:srgbClr val="B0BEC5"/>
                </a:solidFill>
              </a:defRPr>
            </a:pPr>
            <a:r>
              <a:t>100.0%</a:t>
            </a:r>
          </a:p>
        </p:txBody>
      </p:sp>
      <p:sp>
        <p:nvSpPr>
          <p:cNvPr id="18" name="TextBox 17"/>
          <p:cNvSpPr txBox="1"/>
          <p:nvPr/>
        </p:nvSpPr>
        <p:spPr>
          <a:xfrm>
            <a:off x="8458200" y="2468880"/>
            <a:ext cx="2286000" cy="365760"/>
          </a:xfrm>
          <a:prstGeom prst="rect">
            <a:avLst/>
          </a:prstGeom>
          <a:noFill/>
        </p:spPr>
        <p:txBody>
          <a:bodyPr wrap="square">
            <a:spAutoFit/>
          </a:bodyPr>
          <a:lstStyle/>
          <a:p>
            <a:pPr algn="ctr">
              <a:defRPr sz="1600" b="0">
                <a:solidFill>
                  <a:srgbClr val="4CAF50"/>
                </a:solidFill>
              </a:defRPr>
            </a:pPr>
            <a:r>
              <a:t>+63.1%</a:t>
            </a:r>
          </a:p>
        </p:txBody>
      </p:sp>
      <p:sp>
        <p:nvSpPr>
          <p:cNvPr id="19" name="Rectangle 18"/>
          <p:cNvSpPr/>
          <p:nvPr/>
        </p:nvSpPr>
        <p:spPr>
          <a:xfrm>
            <a:off x="914400" y="2971800"/>
            <a:ext cx="10058400" cy="548640"/>
          </a:xfrm>
          <a:prstGeom prst="rect">
            <a:avLst/>
          </a:prstGeom>
          <a:solidFill>
            <a:srgbClr val="15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063240"/>
            <a:ext cx="2286000" cy="365760"/>
          </a:xfrm>
          <a:prstGeom prst="rect">
            <a:avLst/>
          </a:prstGeom>
          <a:noFill/>
        </p:spPr>
        <p:txBody>
          <a:bodyPr wrap="square">
            <a:spAutoFit/>
          </a:bodyPr>
          <a:lstStyle/>
          <a:p>
            <a:pPr algn="ctr">
              <a:defRPr sz="1600" b="0">
                <a:solidFill>
                  <a:srgbClr val="B0BEC5"/>
                </a:solidFill>
              </a:defRPr>
            </a:pPr>
            <a:r>
              <a:t>Accuracy</a:t>
            </a:r>
          </a:p>
        </p:txBody>
      </p:sp>
      <p:sp>
        <p:nvSpPr>
          <p:cNvPr id="21" name="TextBox 20"/>
          <p:cNvSpPr txBox="1"/>
          <p:nvPr/>
        </p:nvSpPr>
        <p:spPr>
          <a:xfrm>
            <a:off x="3429000" y="3063240"/>
            <a:ext cx="2286000" cy="365760"/>
          </a:xfrm>
          <a:prstGeom prst="rect">
            <a:avLst/>
          </a:prstGeom>
          <a:noFill/>
        </p:spPr>
        <p:txBody>
          <a:bodyPr wrap="square">
            <a:spAutoFit/>
          </a:bodyPr>
          <a:lstStyle/>
          <a:p>
            <a:pPr algn="ctr">
              <a:defRPr sz="1600" b="0">
                <a:solidFill>
                  <a:srgbClr val="B0BEC5"/>
                </a:solidFill>
              </a:defRPr>
            </a:pPr>
            <a:r>
              <a:t>25.4%</a:t>
            </a:r>
          </a:p>
        </p:txBody>
      </p:sp>
      <p:sp>
        <p:nvSpPr>
          <p:cNvPr id="22" name="TextBox 21"/>
          <p:cNvSpPr txBox="1"/>
          <p:nvPr/>
        </p:nvSpPr>
        <p:spPr>
          <a:xfrm>
            <a:off x="5943600" y="3063240"/>
            <a:ext cx="2286000" cy="365760"/>
          </a:xfrm>
          <a:prstGeom prst="rect">
            <a:avLst/>
          </a:prstGeom>
          <a:noFill/>
        </p:spPr>
        <p:txBody>
          <a:bodyPr wrap="square">
            <a:spAutoFit/>
          </a:bodyPr>
          <a:lstStyle/>
          <a:p>
            <a:pPr algn="ctr">
              <a:defRPr sz="1600" b="0">
                <a:solidFill>
                  <a:srgbClr val="B0BEC5"/>
                </a:solidFill>
              </a:defRPr>
            </a:pPr>
            <a:r>
              <a:t>74.3%</a:t>
            </a:r>
          </a:p>
        </p:txBody>
      </p:sp>
      <p:sp>
        <p:nvSpPr>
          <p:cNvPr id="23" name="TextBox 22"/>
          <p:cNvSpPr txBox="1"/>
          <p:nvPr/>
        </p:nvSpPr>
        <p:spPr>
          <a:xfrm>
            <a:off x="8458200" y="3063240"/>
            <a:ext cx="2286000" cy="365760"/>
          </a:xfrm>
          <a:prstGeom prst="rect">
            <a:avLst/>
          </a:prstGeom>
          <a:noFill/>
        </p:spPr>
        <p:txBody>
          <a:bodyPr wrap="square">
            <a:spAutoFit/>
          </a:bodyPr>
          <a:lstStyle/>
          <a:p>
            <a:pPr algn="ctr">
              <a:defRPr sz="1600" b="0">
                <a:solidFill>
                  <a:srgbClr val="4CAF50"/>
                </a:solidFill>
              </a:defRPr>
            </a:pPr>
            <a:r>
              <a:t>+48.9%</a:t>
            </a:r>
          </a:p>
        </p:txBody>
      </p:sp>
      <p:sp>
        <p:nvSpPr>
          <p:cNvPr id="24" name="Rectangle 23"/>
          <p:cNvSpPr/>
          <p:nvPr/>
        </p:nvSpPr>
        <p:spPr>
          <a:xfrm>
            <a:off x="914400" y="3566160"/>
            <a:ext cx="10058400" cy="548640"/>
          </a:xfrm>
          <a:prstGeom prst="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3657600"/>
            <a:ext cx="2286000" cy="365760"/>
          </a:xfrm>
          <a:prstGeom prst="rect">
            <a:avLst/>
          </a:prstGeom>
          <a:noFill/>
        </p:spPr>
        <p:txBody>
          <a:bodyPr wrap="square">
            <a:spAutoFit/>
          </a:bodyPr>
          <a:lstStyle/>
          <a:p>
            <a:pPr algn="ctr">
              <a:defRPr sz="1600" b="0">
                <a:solidFill>
                  <a:srgbClr val="B0BEC5"/>
                </a:solidFill>
              </a:defRPr>
            </a:pPr>
            <a:r>
              <a:t>Ambiguity</a:t>
            </a:r>
          </a:p>
        </p:txBody>
      </p:sp>
      <p:sp>
        <p:nvSpPr>
          <p:cNvPr id="26" name="TextBox 25"/>
          <p:cNvSpPr txBox="1"/>
          <p:nvPr/>
        </p:nvSpPr>
        <p:spPr>
          <a:xfrm>
            <a:off x="3429000" y="3657600"/>
            <a:ext cx="2286000" cy="365760"/>
          </a:xfrm>
          <a:prstGeom prst="rect">
            <a:avLst/>
          </a:prstGeom>
          <a:noFill/>
        </p:spPr>
        <p:txBody>
          <a:bodyPr wrap="square">
            <a:spAutoFit/>
          </a:bodyPr>
          <a:lstStyle/>
          <a:p>
            <a:pPr algn="ctr">
              <a:defRPr sz="1600" b="0">
                <a:solidFill>
                  <a:srgbClr val="B0BEC5"/>
                </a:solidFill>
              </a:defRPr>
            </a:pPr>
            <a:r>
              <a:t>1.18</a:t>
            </a:r>
          </a:p>
        </p:txBody>
      </p:sp>
      <p:sp>
        <p:nvSpPr>
          <p:cNvPr id="27" name="TextBox 26"/>
          <p:cNvSpPr txBox="1"/>
          <p:nvPr/>
        </p:nvSpPr>
        <p:spPr>
          <a:xfrm>
            <a:off x="5943600" y="3657600"/>
            <a:ext cx="2286000" cy="365760"/>
          </a:xfrm>
          <a:prstGeom prst="rect">
            <a:avLst/>
          </a:prstGeom>
          <a:noFill/>
        </p:spPr>
        <p:txBody>
          <a:bodyPr wrap="square">
            <a:spAutoFit/>
          </a:bodyPr>
          <a:lstStyle/>
          <a:p>
            <a:pPr algn="ctr">
              <a:defRPr sz="1600" b="0">
                <a:solidFill>
                  <a:srgbClr val="B0BEC5"/>
                </a:solidFill>
              </a:defRPr>
            </a:pPr>
            <a:r>
              <a:t>1.07</a:t>
            </a:r>
          </a:p>
        </p:txBody>
      </p:sp>
      <p:sp>
        <p:nvSpPr>
          <p:cNvPr id="28" name="TextBox 27"/>
          <p:cNvSpPr txBox="1"/>
          <p:nvPr/>
        </p:nvSpPr>
        <p:spPr>
          <a:xfrm>
            <a:off x="8458200" y="3657600"/>
            <a:ext cx="2286000" cy="365760"/>
          </a:xfrm>
          <a:prstGeom prst="rect">
            <a:avLst/>
          </a:prstGeom>
          <a:noFill/>
        </p:spPr>
        <p:txBody>
          <a:bodyPr wrap="square">
            <a:spAutoFit/>
          </a:bodyPr>
          <a:lstStyle/>
          <a:p>
            <a:pPr algn="ctr">
              <a:defRPr sz="1600" b="0">
                <a:solidFill>
                  <a:srgbClr val="B0BEC5"/>
                </a:solidFill>
              </a:defRPr>
            </a:pPr>
            <a:r>
              <a:t>−0.11</a:t>
            </a:r>
          </a:p>
        </p:txBody>
      </p:sp>
      <p:sp>
        <p:nvSpPr>
          <p:cNvPr id="29" name="Rectangle 28"/>
          <p:cNvSpPr/>
          <p:nvPr/>
        </p:nvSpPr>
        <p:spPr>
          <a:xfrm>
            <a:off x="914400" y="4160520"/>
            <a:ext cx="10058400" cy="548640"/>
          </a:xfrm>
          <a:prstGeom prst="rect">
            <a:avLst/>
          </a:prstGeom>
          <a:solidFill>
            <a:srgbClr val="15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4251960"/>
            <a:ext cx="2286000" cy="365760"/>
          </a:xfrm>
          <a:prstGeom prst="rect">
            <a:avLst/>
          </a:prstGeom>
          <a:noFill/>
        </p:spPr>
        <p:txBody>
          <a:bodyPr wrap="square">
            <a:spAutoFit/>
          </a:bodyPr>
          <a:lstStyle/>
          <a:p>
            <a:pPr algn="ctr">
              <a:defRPr sz="1600" b="0">
                <a:solidFill>
                  <a:srgbClr val="B0BEC5"/>
                </a:solidFill>
              </a:defRPr>
            </a:pPr>
            <a:r>
              <a:t>OOV Words</a:t>
            </a:r>
          </a:p>
        </p:txBody>
      </p:sp>
      <p:sp>
        <p:nvSpPr>
          <p:cNvPr id="31" name="TextBox 30"/>
          <p:cNvSpPr txBox="1"/>
          <p:nvPr/>
        </p:nvSpPr>
        <p:spPr>
          <a:xfrm>
            <a:off x="3429000" y="4251960"/>
            <a:ext cx="2286000" cy="365760"/>
          </a:xfrm>
          <a:prstGeom prst="rect">
            <a:avLst/>
          </a:prstGeom>
          <a:noFill/>
        </p:spPr>
        <p:txBody>
          <a:bodyPr wrap="square">
            <a:spAutoFit/>
          </a:bodyPr>
          <a:lstStyle/>
          <a:p>
            <a:pPr algn="ctr">
              <a:defRPr sz="1600" b="0">
                <a:solidFill>
                  <a:srgbClr val="B0BEC5"/>
                </a:solidFill>
              </a:defRPr>
            </a:pPr>
            <a:r>
              <a:t>3,156</a:t>
            </a:r>
          </a:p>
        </p:txBody>
      </p:sp>
      <p:sp>
        <p:nvSpPr>
          <p:cNvPr id="32" name="TextBox 31"/>
          <p:cNvSpPr txBox="1"/>
          <p:nvPr/>
        </p:nvSpPr>
        <p:spPr>
          <a:xfrm>
            <a:off x="5943600" y="4251960"/>
            <a:ext cx="2286000" cy="365760"/>
          </a:xfrm>
          <a:prstGeom prst="rect">
            <a:avLst/>
          </a:prstGeom>
          <a:noFill/>
        </p:spPr>
        <p:txBody>
          <a:bodyPr wrap="square">
            <a:spAutoFit/>
          </a:bodyPr>
          <a:lstStyle/>
          <a:p>
            <a:pPr algn="ctr">
              <a:defRPr sz="1600" b="0">
                <a:solidFill>
                  <a:srgbClr val="B0BEC5"/>
                </a:solidFill>
              </a:defRPr>
            </a:pPr>
            <a:r>
              <a:t>0</a:t>
            </a:r>
          </a:p>
        </p:txBody>
      </p:sp>
      <p:sp>
        <p:nvSpPr>
          <p:cNvPr id="33" name="TextBox 32"/>
          <p:cNvSpPr txBox="1"/>
          <p:nvPr/>
        </p:nvSpPr>
        <p:spPr>
          <a:xfrm>
            <a:off x="8458200" y="4251960"/>
            <a:ext cx="2286000" cy="365760"/>
          </a:xfrm>
          <a:prstGeom prst="rect">
            <a:avLst/>
          </a:prstGeom>
          <a:noFill/>
        </p:spPr>
        <p:txBody>
          <a:bodyPr wrap="square">
            <a:spAutoFit/>
          </a:bodyPr>
          <a:lstStyle/>
          <a:p>
            <a:pPr algn="ctr">
              <a:defRPr sz="1600" b="0">
                <a:solidFill>
                  <a:srgbClr val="B0BEC5"/>
                </a:solidFill>
              </a:defRPr>
            </a:pPr>
            <a:r>
              <a:t>−3,156</a:t>
            </a:r>
          </a:p>
        </p:txBody>
      </p:sp>
      <p:sp>
        <p:nvSpPr>
          <p:cNvPr id="34" name="Rectangle 33"/>
          <p:cNvSpPr/>
          <p:nvPr/>
        </p:nvSpPr>
        <p:spPr>
          <a:xfrm>
            <a:off x="914400" y="4754880"/>
            <a:ext cx="10058400" cy="548640"/>
          </a:xfrm>
          <a:prstGeom prst="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4846320"/>
            <a:ext cx="2286000" cy="365760"/>
          </a:xfrm>
          <a:prstGeom prst="rect">
            <a:avLst/>
          </a:prstGeom>
          <a:noFill/>
        </p:spPr>
        <p:txBody>
          <a:bodyPr wrap="square">
            <a:spAutoFit/>
          </a:bodyPr>
          <a:lstStyle/>
          <a:p>
            <a:pPr algn="ctr">
              <a:defRPr sz="1600" b="0">
                <a:solidFill>
                  <a:srgbClr val="B0BEC5"/>
                </a:solidFill>
              </a:defRPr>
            </a:pPr>
            <a:r>
              <a:t>Neural Wins</a:t>
            </a:r>
          </a:p>
        </p:txBody>
      </p:sp>
      <p:sp>
        <p:nvSpPr>
          <p:cNvPr id="36" name="TextBox 35"/>
          <p:cNvSpPr txBox="1"/>
          <p:nvPr/>
        </p:nvSpPr>
        <p:spPr>
          <a:xfrm>
            <a:off x="3429000" y="4846320"/>
            <a:ext cx="2286000" cy="365760"/>
          </a:xfrm>
          <a:prstGeom prst="rect">
            <a:avLst/>
          </a:prstGeom>
          <a:noFill/>
        </p:spPr>
        <p:txBody>
          <a:bodyPr wrap="square">
            <a:spAutoFit/>
          </a:bodyPr>
          <a:lstStyle/>
          <a:p>
            <a:pPr algn="ctr">
              <a:defRPr sz="1600" b="0">
                <a:solidFill>
                  <a:srgbClr val="B0BEC5"/>
                </a:solidFill>
              </a:defRPr>
            </a:pPr>
            <a:r>
              <a:t>—</a:t>
            </a:r>
          </a:p>
        </p:txBody>
      </p:sp>
      <p:sp>
        <p:nvSpPr>
          <p:cNvPr id="37" name="TextBox 36"/>
          <p:cNvSpPr txBox="1"/>
          <p:nvPr/>
        </p:nvSpPr>
        <p:spPr>
          <a:xfrm>
            <a:off x="5943600" y="4846320"/>
            <a:ext cx="2286000" cy="365760"/>
          </a:xfrm>
          <a:prstGeom prst="rect">
            <a:avLst/>
          </a:prstGeom>
          <a:noFill/>
        </p:spPr>
        <p:txBody>
          <a:bodyPr wrap="square">
            <a:spAutoFit/>
          </a:bodyPr>
          <a:lstStyle/>
          <a:p>
            <a:pPr algn="ctr">
              <a:defRPr sz="1600" b="0">
                <a:solidFill>
                  <a:srgbClr val="B0BEC5"/>
                </a:solidFill>
              </a:defRPr>
            </a:pPr>
            <a:r>
              <a:t>2,374</a:t>
            </a:r>
          </a:p>
        </p:txBody>
      </p:sp>
      <p:sp>
        <p:nvSpPr>
          <p:cNvPr id="38" name="TextBox 37"/>
          <p:cNvSpPr txBox="1"/>
          <p:nvPr/>
        </p:nvSpPr>
        <p:spPr>
          <a:xfrm>
            <a:off x="8458200" y="4846320"/>
            <a:ext cx="2286000" cy="365760"/>
          </a:xfrm>
          <a:prstGeom prst="rect">
            <a:avLst/>
          </a:prstGeom>
          <a:noFill/>
        </p:spPr>
        <p:txBody>
          <a:bodyPr wrap="square">
            <a:spAutoFit/>
          </a:bodyPr>
          <a:lstStyle/>
          <a:p>
            <a:pPr algn="ctr">
              <a:defRPr sz="1600" b="0">
                <a:solidFill>
                  <a:srgbClr val="B0BEC5"/>
                </a:solidFill>
              </a:defRPr>
            </a:pPr>
            <a:r>
              <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058400" cy="640080"/>
          </a:xfrm>
          <a:prstGeom prst="rect">
            <a:avLst/>
          </a:prstGeom>
          <a:noFill/>
        </p:spPr>
        <p:txBody>
          <a:bodyPr wrap="square">
            <a:spAutoFit/>
          </a:bodyPr>
          <a:lstStyle/>
          <a:p>
            <a:pPr algn="l">
              <a:defRPr sz="3000" b="1">
                <a:solidFill>
                  <a:srgbClr val="53D8FB"/>
                </a:solidFill>
              </a:defRPr>
            </a:pPr>
            <a:r>
              <a:t>Demonstration: Analysis Examples</a:t>
            </a:r>
          </a:p>
        </p:txBody>
      </p:sp>
      <p:sp>
        <p:nvSpPr>
          <p:cNvPr id="4" name="TextBox 3"/>
          <p:cNvSpPr txBox="1"/>
          <p:nvPr/>
        </p:nvSpPr>
        <p:spPr>
          <a:xfrm>
            <a:off x="548640" y="1097280"/>
            <a:ext cx="4572000" cy="457200"/>
          </a:xfrm>
          <a:prstGeom prst="rect">
            <a:avLst/>
          </a:prstGeom>
          <a:noFill/>
        </p:spPr>
        <p:txBody>
          <a:bodyPr wrap="square">
            <a:spAutoFit/>
          </a:bodyPr>
          <a:lstStyle/>
          <a:p>
            <a:pPr algn="l">
              <a:defRPr sz="2000" b="1">
                <a:solidFill>
                  <a:srgbClr val="FFD54F"/>
                </a:solidFill>
              </a:defRPr>
            </a:pPr>
            <a:r>
              <a:t>Regular Forms</a:t>
            </a:r>
          </a:p>
        </p:txBody>
      </p:sp>
      <p:sp>
        <p:nvSpPr>
          <p:cNvPr id="5" name="TextBox 4"/>
          <p:cNvSpPr txBox="1"/>
          <p:nvPr/>
        </p:nvSpPr>
        <p:spPr>
          <a:xfrm>
            <a:off x="548640" y="1645920"/>
            <a:ext cx="5029200" cy="2286000"/>
          </a:xfrm>
          <a:prstGeom prst="rect">
            <a:avLst/>
          </a:prstGeom>
          <a:noFill/>
        </p:spPr>
        <p:txBody>
          <a:bodyPr wrap="square">
            <a:spAutoFit/>
          </a:bodyPr>
          <a:lstStyle/>
          <a:p>
            <a:pPr>
              <a:spcAft>
                <a:spcPts val="400"/>
              </a:spcAft>
              <a:defRPr sz="1600">
                <a:solidFill>
                  <a:srgbClr val="B0BEC5"/>
                </a:solidFill>
              </a:defRPr>
            </a:pPr>
            <a:r>
              <a:t>walking → walk + V;V.PTCP;PRS</a:t>
            </a:r>
          </a:p>
          <a:p>
            <a:pPr>
              <a:spcAft>
                <a:spcPts val="400"/>
              </a:spcAft>
              <a:defRPr sz="1600">
                <a:solidFill>
                  <a:srgbClr val="B0BEC5"/>
                </a:solidFill>
              </a:defRPr>
            </a:pPr>
            <a:r>
              <a:t>flies   → fly + N;PL</a:t>
            </a:r>
          </a:p>
          <a:p>
            <a:pPr>
              <a:spcAft>
                <a:spcPts val="400"/>
              </a:spcAft>
              <a:defRPr sz="1600">
                <a:solidFill>
                  <a:srgbClr val="B0BEC5"/>
                </a:solidFill>
              </a:defRPr>
            </a:pPr>
            <a:r>
              <a:t>watches → watch + V;PRS;3;SG</a:t>
            </a:r>
          </a:p>
          <a:p>
            <a:pPr>
              <a:spcAft>
                <a:spcPts val="400"/>
              </a:spcAft>
              <a:defRPr sz="1600">
                <a:solidFill>
                  <a:srgbClr val="B0BEC5"/>
                </a:solidFill>
              </a:defRPr>
            </a:pPr>
            <a:r>
              <a:t>hoped   → hope + V;PST</a:t>
            </a:r>
          </a:p>
          <a:p>
            <a:pPr>
              <a:spcAft>
                <a:spcPts val="400"/>
              </a:spcAft>
              <a:defRPr sz="1600">
                <a:solidFill>
                  <a:srgbClr val="B0BEC5"/>
                </a:solidFill>
              </a:defRPr>
            </a:pPr>
            <a:r>
              <a:t>happier → happy + ADJ;CMPR</a:t>
            </a:r>
          </a:p>
        </p:txBody>
      </p:sp>
      <p:sp>
        <p:nvSpPr>
          <p:cNvPr id="6" name="TextBox 5"/>
          <p:cNvSpPr txBox="1"/>
          <p:nvPr/>
        </p:nvSpPr>
        <p:spPr>
          <a:xfrm>
            <a:off x="548640" y="3931920"/>
            <a:ext cx="4572000" cy="457200"/>
          </a:xfrm>
          <a:prstGeom prst="rect">
            <a:avLst/>
          </a:prstGeom>
          <a:noFill/>
        </p:spPr>
        <p:txBody>
          <a:bodyPr wrap="square">
            <a:spAutoFit/>
          </a:bodyPr>
          <a:lstStyle/>
          <a:p>
            <a:pPr algn="l">
              <a:defRPr sz="2000" b="1">
                <a:solidFill>
                  <a:srgbClr val="E94E77"/>
                </a:solidFill>
              </a:defRPr>
            </a:pPr>
            <a:r>
              <a:t>Irregular Forms</a:t>
            </a:r>
          </a:p>
        </p:txBody>
      </p:sp>
      <p:sp>
        <p:nvSpPr>
          <p:cNvPr id="7" name="TextBox 6"/>
          <p:cNvSpPr txBox="1"/>
          <p:nvPr/>
        </p:nvSpPr>
        <p:spPr>
          <a:xfrm>
            <a:off x="548640" y="4480560"/>
            <a:ext cx="5029200" cy="1828800"/>
          </a:xfrm>
          <a:prstGeom prst="rect">
            <a:avLst/>
          </a:prstGeom>
          <a:noFill/>
        </p:spPr>
        <p:txBody>
          <a:bodyPr wrap="square">
            <a:spAutoFit/>
          </a:bodyPr>
          <a:lstStyle/>
          <a:p>
            <a:pPr>
              <a:spcAft>
                <a:spcPts val="400"/>
              </a:spcAft>
              <a:defRPr sz="1600">
                <a:solidFill>
                  <a:srgbClr val="B0BEC5"/>
                </a:solidFill>
              </a:defRPr>
            </a:pPr>
            <a:r>
              <a:t>went    → go + V;PST</a:t>
            </a:r>
          </a:p>
          <a:p>
            <a:pPr>
              <a:spcAft>
                <a:spcPts val="400"/>
              </a:spcAft>
              <a:defRPr sz="1600">
                <a:solidFill>
                  <a:srgbClr val="B0BEC5"/>
                </a:solidFill>
              </a:defRPr>
            </a:pPr>
            <a:r>
              <a:t>mice    → mouse + N;PL</a:t>
            </a:r>
          </a:p>
          <a:p>
            <a:pPr>
              <a:spcAft>
                <a:spcPts val="400"/>
              </a:spcAft>
              <a:defRPr sz="1600">
                <a:solidFill>
                  <a:srgbClr val="B0BEC5"/>
                </a:solidFill>
              </a:defRPr>
            </a:pPr>
            <a:r>
              <a:t>thought → think + V;PST</a:t>
            </a:r>
          </a:p>
          <a:p>
            <a:pPr>
              <a:spcAft>
                <a:spcPts val="400"/>
              </a:spcAft>
              <a:defRPr sz="1600">
                <a:solidFill>
                  <a:srgbClr val="B0BEC5"/>
                </a:solidFill>
              </a:defRPr>
            </a:pPr>
            <a:r>
              <a:t>better  → good + ADJ;CMPR</a:t>
            </a:r>
          </a:p>
        </p:txBody>
      </p:sp>
      <p:sp>
        <p:nvSpPr>
          <p:cNvPr id="8" name="TextBox 7"/>
          <p:cNvSpPr txBox="1"/>
          <p:nvPr/>
        </p:nvSpPr>
        <p:spPr>
          <a:xfrm>
            <a:off x="6400800" y="1097280"/>
            <a:ext cx="5029200" cy="457200"/>
          </a:xfrm>
          <a:prstGeom prst="rect">
            <a:avLst/>
          </a:prstGeom>
          <a:noFill/>
        </p:spPr>
        <p:txBody>
          <a:bodyPr wrap="square">
            <a:spAutoFit/>
          </a:bodyPr>
          <a:lstStyle/>
          <a:p>
            <a:pPr algn="l">
              <a:defRPr sz="2000" b="1">
                <a:solidFill>
                  <a:srgbClr val="FFD54F"/>
                </a:solidFill>
              </a:defRPr>
            </a:pPr>
            <a:r>
              <a:t>FST State Traversal</a:t>
            </a:r>
          </a:p>
        </p:txBody>
      </p:sp>
      <p:sp>
        <p:nvSpPr>
          <p:cNvPr id="9" name="Rectangle 8"/>
          <p:cNvSpPr/>
          <p:nvPr/>
        </p:nvSpPr>
        <p:spPr>
          <a:xfrm>
            <a:off x="6217920" y="1645920"/>
            <a:ext cx="5303520" cy="4114800"/>
          </a:xfrm>
          <a:prstGeom prst="rect">
            <a:avLst/>
          </a:prstGeom>
          <a:solidFill>
            <a:srgbClr val="0A0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737360"/>
            <a:ext cx="5029200" cy="3931920"/>
          </a:xfrm>
          <a:prstGeom prst="rect">
            <a:avLst/>
          </a:prstGeom>
          <a:noFill/>
        </p:spPr>
        <p:txBody>
          <a:bodyPr wrap="square">
            <a:spAutoFit/>
          </a:bodyPr>
          <a:lstStyle/>
          <a:p>
            <a:pPr>
              <a:spcAft>
                <a:spcPts val="400"/>
              </a:spcAft>
              <a:defRPr sz="1300">
                <a:solidFill>
                  <a:srgbClr val="53D8FB"/>
                </a:solidFill>
              </a:defRPr>
            </a:pPr>
            <a:r>
              <a:t>&gt; Enter a word: helpful</a:t>
            </a:r>
          </a:p>
          <a:p>
            <a:pPr>
              <a:spcAft>
                <a:spcPts val="400"/>
              </a:spcAft>
              <a:defRPr sz="1300">
                <a:solidFill>
                  <a:srgbClr val="53D8FB"/>
                </a:solidFill>
              </a:defRPr>
            </a:pPr>
          </a:p>
          <a:p>
            <a:pPr>
              <a:spcAft>
                <a:spcPts val="400"/>
              </a:spcAft>
              <a:defRPr sz="1300">
                <a:solidFill>
                  <a:srgbClr val="53D8FB"/>
                </a:solidFill>
              </a:defRPr>
            </a:pPr>
            <a:r>
              <a:t>(7)[h] → (6)[e] → (5)[l] → (4)[p] → ((3))</a:t>
            </a:r>
          </a:p>
          <a:p>
            <a:pPr>
              <a:spcAft>
                <a:spcPts val="400"/>
              </a:spcAft>
              <a:defRPr sz="1300">
                <a:solidFill>
                  <a:srgbClr val="53D8FB"/>
                </a:solidFill>
              </a:defRPr>
            </a:pPr>
            <a:r>
              <a:t>                                      |</a:t>
            </a:r>
          </a:p>
          <a:p>
            <a:pPr>
              <a:spcAft>
                <a:spcPts val="400"/>
              </a:spcAft>
              <a:defRPr sz="1300">
                <a:solidFill>
                  <a:srgbClr val="53D8FB"/>
                </a:solidFill>
              </a:defRPr>
            </a:pPr>
            <a:r>
              <a:t>                                      V</a:t>
            </a:r>
          </a:p>
          <a:p>
            <a:pPr>
              <a:spcAft>
                <a:spcPts val="400"/>
              </a:spcAft>
              <a:defRPr sz="1300">
                <a:solidFill>
                  <a:srgbClr val="53D8FB"/>
                </a:solidFill>
              </a:defRPr>
            </a:pPr>
            <a:r>
              <a:t>                 ((3))[f] → (2)[u] → (1)[l] → ((1))</a:t>
            </a:r>
          </a:p>
          <a:p>
            <a:pPr>
              <a:spcAft>
                <a:spcPts val="400"/>
              </a:spcAft>
              <a:defRPr sz="1300">
                <a:solidFill>
                  <a:srgbClr val="53D8FB"/>
                </a:solidFill>
              </a:defRPr>
            </a:pPr>
          </a:p>
          <a:p>
            <a:pPr>
              <a:spcAft>
                <a:spcPts val="400"/>
              </a:spcAft>
              <a:defRPr sz="1300">
                <a:solidFill>
                  <a:srgbClr val="53D8FB"/>
                </a:solidFill>
              </a:defRPr>
            </a:pPr>
            <a:r>
              <a:t>Morphological analysis:</a:t>
            </a:r>
          </a:p>
          <a:p>
            <a:pPr>
              <a:spcAft>
                <a:spcPts val="400"/>
              </a:spcAft>
              <a:defRPr sz="1300">
                <a:solidFill>
                  <a:srgbClr val="53D8FB"/>
                </a:solidFill>
              </a:defRPr>
            </a:pPr>
            <a:r>
              <a:t>   help + ful  (ROOT + SUFF)</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058400" cy="640080"/>
          </a:xfrm>
          <a:prstGeom prst="rect">
            <a:avLst/>
          </a:prstGeom>
          <a:noFill/>
        </p:spPr>
        <p:txBody>
          <a:bodyPr wrap="square">
            <a:spAutoFit/>
          </a:bodyPr>
          <a:lstStyle/>
          <a:p>
            <a:pPr algn="l">
              <a:defRPr sz="3000" b="1">
                <a:solidFill>
                  <a:srgbClr val="53D8FB"/>
                </a:solidFill>
              </a:defRPr>
            </a:pPr>
            <a:r>
              <a:t>Hindi &amp; Bengali FST Analysis</a:t>
            </a:r>
          </a:p>
        </p:txBody>
      </p:sp>
      <p:sp>
        <p:nvSpPr>
          <p:cNvPr id="4" name="TextBox 3"/>
          <p:cNvSpPr txBox="1"/>
          <p:nvPr/>
        </p:nvSpPr>
        <p:spPr>
          <a:xfrm>
            <a:off x="548640" y="1097280"/>
            <a:ext cx="5029200" cy="457200"/>
          </a:xfrm>
          <a:prstGeom prst="rect">
            <a:avLst/>
          </a:prstGeom>
          <a:noFill/>
        </p:spPr>
        <p:txBody>
          <a:bodyPr wrap="square">
            <a:spAutoFit/>
          </a:bodyPr>
          <a:lstStyle/>
          <a:p>
            <a:pPr algn="l">
              <a:defRPr sz="2000" b="1">
                <a:solidFill>
                  <a:srgbClr val="FFD54F"/>
                </a:solidFill>
              </a:defRPr>
            </a:pPr>
            <a:r>
              <a:t>Hindi FST (Devanagari)</a:t>
            </a:r>
          </a:p>
        </p:txBody>
      </p:sp>
      <p:sp>
        <p:nvSpPr>
          <p:cNvPr id="5" name="Rectangle 4"/>
          <p:cNvSpPr/>
          <p:nvPr/>
        </p:nvSpPr>
        <p:spPr>
          <a:xfrm>
            <a:off x="548640" y="1737360"/>
            <a:ext cx="5029200" cy="2103120"/>
          </a:xfrm>
          <a:prstGeom prst="rect">
            <a:avLst/>
          </a:prstGeom>
          <a:solidFill>
            <a:srgbClr val="0A0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828800"/>
            <a:ext cx="4754880" cy="1920240"/>
          </a:xfrm>
          <a:prstGeom prst="rect">
            <a:avLst/>
          </a:prstGeom>
          <a:noFill/>
        </p:spPr>
        <p:txBody>
          <a:bodyPr wrap="square">
            <a:spAutoFit/>
          </a:bodyPr>
          <a:lstStyle/>
          <a:p>
            <a:pPr>
              <a:spcAft>
                <a:spcPts val="400"/>
              </a:spcAft>
              <a:defRPr sz="1300">
                <a:solidFill>
                  <a:srgbClr val="53D8FB"/>
                </a:solidFill>
              </a:defRPr>
            </a:pPr>
            <a:r>
              <a:t>&gt;&gt; जाता</a:t>
            </a:r>
          </a:p>
          <a:p>
            <a:pPr>
              <a:spcAft>
                <a:spcPts val="400"/>
              </a:spcAft>
              <a:defRPr sz="1300">
                <a:solidFill>
                  <a:srgbClr val="53D8FB"/>
                </a:solidFill>
              </a:defRPr>
            </a:pPr>
            <a:r>
              <a:t>FST State Traversal (pynini state IDs):</a:t>
            </a:r>
          </a:p>
          <a:p>
            <a:pPr>
              <a:spcAft>
                <a:spcPts val="400"/>
              </a:spcAft>
              <a:defRPr sz="1300">
                <a:solidFill>
                  <a:srgbClr val="53D8FB"/>
                </a:solidFill>
              </a:defRPr>
            </a:pPr>
            <a:r>
              <a:t>  q57 -[जा]-&gt; q55 -[ता]-&gt; ((q53))</a:t>
            </a:r>
          </a:p>
          <a:p>
            <a:pPr>
              <a:spcAft>
                <a:spcPts val="400"/>
              </a:spcAft>
              <a:defRPr sz="1300">
                <a:solidFill>
                  <a:srgbClr val="53D8FB"/>
                </a:solidFill>
              </a:defRPr>
            </a:pPr>
            <a:r>
              <a:t>  Lemma: जाना | POS: AUX</a:t>
            </a:r>
          </a:p>
          <a:p>
            <a:pPr>
              <a:spcAft>
                <a:spcPts val="400"/>
              </a:spcAft>
              <a:defRPr sz="1300">
                <a:solidFill>
                  <a:srgbClr val="53D8FB"/>
                </a:solidFill>
              </a:defRPr>
            </a:pPr>
            <a:r>
              <a:t>  Features: Aspect=Imp|Gender=Masc|VerbForm=Part</a:t>
            </a:r>
          </a:p>
        </p:txBody>
      </p:sp>
      <p:sp>
        <p:nvSpPr>
          <p:cNvPr id="7" name="TextBox 6"/>
          <p:cNvSpPr txBox="1"/>
          <p:nvPr/>
        </p:nvSpPr>
        <p:spPr>
          <a:xfrm>
            <a:off x="548640" y="4023360"/>
            <a:ext cx="5029200" cy="274320"/>
          </a:xfrm>
          <a:prstGeom prst="rect">
            <a:avLst/>
          </a:prstGeom>
          <a:noFill/>
        </p:spPr>
        <p:txBody>
          <a:bodyPr wrap="square">
            <a:spAutoFit/>
          </a:bodyPr>
          <a:lstStyle/>
          <a:p>
            <a:pPr algn="l">
              <a:defRPr sz="1400" b="0">
                <a:solidFill>
                  <a:srgbClr val="78909C"/>
                </a:solidFill>
              </a:defRPr>
            </a:pPr>
            <a:r>
              <a:t>2,011 vocabulary words • Real pynini state IDs</a:t>
            </a:r>
          </a:p>
        </p:txBody>
      </p:sp>
      <p:sp>
        <p:nvSpPr>
          <p:cNvPr id="8" name="TextBox 7"/>
          <p:cNvSpPr txBox="1"/>
          <p:nvPr/>
        </p:nvSpPr>
        <p:spPr>
          <a:xfrm>
            <a:off x="6400800" y="1097280"/>
            <a:ext cx="5029200" cy="457200"/>
          </a:xfrm>
          <a:prstGeom prst="rect">
            <a:avLst/>
          </a:prstGeom>
          <a:noFill/>
        </p:spPr>
        <p:txBody>
          <a:bodyPr wrap="square">
            <a:spAutoFit/>
          </a:bodyPr>
          <a:lstStyle/>
          <a:p>
            <a:pPr algn="l">
              <a:defRPr sz="2000" b="1">
                <a:solidFill>
                  <a:srgbClr val="FFD54F"/>
                </a:solidFill>
              </a:defRPr>
            </a:pPr>
            <a:r>
              <a:t>Bengali FST (বাংলা)</a:t>
            </a:r>
          </a:p>
        </p:txBody>
      </p:sp>
      <p:sp>
        <p:nvSpPr>
          <p:cNvPr id="9" name="Rectangle 8"/>
          <p:cNvSpPr/>
          <p:nvPr/>
        </p:nvSpPr>
        <p:spPr>
          <a:xfrm>
            <a:off x="6400800" y="1737360"/>
            <a:ext cx="5029200" cy="2103120"/>
          </a:xfrm>
          <a:prstGeom prst="rect">
            <a:avLst/>
          </a:prstGeom>
          <a:solidFill>
            <a:srgbClr val="0A0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1828800"/>
            <a:ext cx="4754880" cy="1920240"/>
          </a:xfrm>
          <a:prstGeom prst="rect">
            <a:avLst/>
          </a:prstGeom>
          <a:noFill/>
        </p:spPr>
        <p:txBody>
          <a:bodyPr wrap="square">
            <a:spAutoFit/>
          </a:bodyPr>
          <a:lstStyle/>
          <a:p>
            <a:pPr>
              <a:spcAft>
                <a:spcPts val="400"/>
              </a:spcAft>
              <a:defRPr sz="1300">
                <a:solidFill>
                  <a:srgbClr val="53D8FB"/>
                </a:solidFill>
              </a:defRPr>
            </a:pPr>
            <a:r>
              <a:t>&gt;&gt; হয়েছে</a:t>
            </a:r>
          </a:p>
          <a:p>
            <a:pPr>
              <a:spcAft>
                <a:spcPts val="400"/>
              </a:spcAft>
              <a:defRPr sz="1300">
                <a:solidFill>
                  <a:srgbClr val="53D8FB"/>
                </a:solidFill>
              </a:defRPr>
            </a:pPr>
            <a:r>
              <a:t>FST State Traversal (pynini state IDs):</a:t>
            </a:r>
          </a:p>
          <a:p>
            <a:pPr>
              <a:spcAft>
                <a:spcPts val="400"/>
              </a:spcAft>
              <a:defRPr sz="1300">
                <a:solidFill>
                  <a:srgbClr val="53D8FB"/>
                </a:solidFill>
              </a:defRPr>
            </a:pPr>
            <a:r>
              <a:t>  q64 -[হ]-&gt; q63 -[য়ে]-&gt; q60 -[ছে]-&gt; ((q58))</a:t>
            </a:r>
          </a:p>
          <a:p>
            <a:pPr>
              <a:spcAft>
                <a:spcPts val="400"/>
              </a:spcAft>
              <a:defRPr sz="1300">
                <a:solidFill>
                  <a:srgbClr val="53D8FB"/>
                </a:solidFill>
              </a:defRPr>
            </a:pPr>
            <a:r>
              <a:t>  Lemma: হওয়া | POS: VERB</a:t>
            </a:r>
          </a:p>
          <a:p>
            <a:pPr>
              <a:spcAft>
                <a:spcPts val="400"/>
              </a:spcAft>
              <a:defRPr sz="1300">
                <a:solidFill>
                  <a:srgbClr val="53D8FB"/>
                </a:solidFill>
              </a:defRPr>
            </a:pPr>
            <a:r>
              <a:t>  Features: Aspect=Perf|Mood=Ind|Person=3</a:t>
            </a:r>
          </a:p>
        </p:txBody>
      </p:sp>
      <p:sp>
        <p:nvSpPr>
          <p:cNvPr id="11" name="TextBox 10"/>
          <p:cNvSpPr txBox="1"/>
          <p:nvPr/>
        </p:nvSpPr>
        <p:spPr>
          <a:xfrm>
            <a:off x="6400800" y="4023360"/>
            <a:ext cx="5029200" cy="274320"/>
          </a:xfrm>
          <a:prstGeom prst="rect">
            <a:avLst/>
          </a:prstGeom>
          <a:noFill/>
        </p:spPr>
        <p:txBody>
          <a:bodyPr wrap="square">
            <a:spAutoFit/>
          </a:bodyPr>
          <a:lstStyle/>
          <a:p>
            <a:pPr algn="l">
              <a:defRPr sz="1400" b="0">
                <a:solidFill>
                  <a:srgbClr val="78909C"/>
                </a:solidFill>
              </a:defRPr>
            </a:pPr>
            <a:r>
              <a:t>320 tokens • 55 sentences • Grapheme cluster splitting</a:t>
            </a:r>
          </a:p>
        </p:txBody>
      </p:sp>
      <p:sp>
        <p:nvSpPr>
          <p:cNvPr id="12" name="TextBox 11"/>
          <p:cNvSpPr txBox="1"/>
          <p:nvPr/>
        </p:nvSpPr>
        <p:spPr>
          <a:xfrm>
            <a:off x="548640" y="4572000"/>
            <a:ext cx="10515600" cy="1828800"/>
          </a:xfrm>
          <a:prstGeom prst="rect">
            <a:avLst/>
          </a:prstGeom>
          <a:noFill/>
        </p:spPr>
        <p:txBody>
          <a:bodyPr wrap="square">
            <a:spAutoFit/>
          </a:bodyPr>
          <a:lstStyle/>
          <a:p>
            <a:pPr>
              <a:spcAft>
                <a:spcPts val="400"/>
              </a:spcAft>
              <a:defRPr sz="1500">
                <a:solidFill>
                  <a:srgbClr val="B0BEC5"/>
                </a:solidFill>
              </a:defRPr>
            </a:pPr>
            <a:r>
              <a:t>Key Technical Detail: Unicode Grapheme Clustering</a:t>
            </a:r>
          </a:p>
          <a:p>
            <a:pPr>
              <a:spcAft>
                <a:spcPts val="400"/>
              </a:spcAft>
              <a:defRPr sz="1500">
                <a:solidFill>
                  <a:srgbClr val="B0BEC5"/>
                </a:solidFill>
              </a:defRPr>
            </a:pPr>
            <a:r>
              <a:t>  • Bengali/Devanagari characters = base letter + vowel signs + virama</a:t>
            </a:r>
          </a:p>
          <a:p>
            <a:pPr>
              <a:spcAft>
                <a:spcPts val="400"/>
              </a:spcAft>
              <a:defRPr sz="1500">
                <a:solidFill>
                  <a:srgbClr val="B0BEC5"/>
                </a:solidFill>
              </a:defRPr>
            </a:pPr>
            <a:r>
              <a:t>  • Each 'grapheme cluster' becomes one FST arc (not raw codepoints)</a:t>
            </a:r>
          </a:p>
          <a:p>
            <a:pPr>
              <a:spcAft>
                <a:spcPts val="400"/>
              </a:spcAft>
              <a:defRPr sz="1500">
                <a:solidFill>
                  <a:srgbClr val="B0BEC5"/>
                </a:solidFill>
              </a:defRPr>
            </a:pPr>
            <a:r>
              <a:t>  • Example:  তু = [ত + ু]  clusters into one arc in the transducer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058400" cy="640080"/>
          </a:xfrm>
          <a:prstGeom prst="rect">
            <a:avLst/>
          </a:prstGeom>
          <a:noFill/>
        </p:spPr>
        <p:txBody>
          <a:bodyPr wrap="square">
            <a:spAutoFit/>
          </a:bodyPr>
          <a:lstStyle/>
          <a:p>
            <a:pPr algn="l">
              <a:defRPr sz="3000" b="1">
                <a:solidFill>
                  <a:srgbClr val="53D8FB"/>
                </a:solidFill>
              </a:defRPr>
            </a:pPr>
            <a:r>
              <a:t>Neural Network Architecture (Avik)</a:t>
            </a:r>
          </a:p>
        </p:txBody>
      </p:sp>
      <p:sp>
        <p:nvSpPr>
          <p:cNvPr id="4" name="Rectangle 3"/>
          <p:cNvSpPr/>
          <p:nvPr/>
        </p:nvSpPr>
        <p:spPr>
          <a:xfrm>
            <a:off x="731520" y="1371600"/>
            <a:ext cx="1828800" cy="146304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463040"/>
            <a:ext cx="1645920" cy="731520"/>
          </a:xfrm>
          <a:prstGeom prst="rect">
            <a:avLst/>
          </a:prstGeom>
          <a:noFill/>
        </p:spPr>
        <p:txBody>
          <a:bodyPr wrap="square">
            <a:spAutoFit/>
          </a:bodyPr>
          <a:lstStyle/>
          <a:p>
            <a:pPr algn="ctr">
              <a:defRPr sz="1400" b="1">
                <a:solidFill>
                  <a:srgbClr val="FFFFFF"/>
                </a:solidFill>
              </a:defRPr>
            </a:pPr>
            <a:r>
              <a:t>Character</a:t>
            </a:r>
            <a:br/>
            <a:r>
              <a:t>Embedding</a:t>
            </a:r>
          </a:p>
        </p:txBody>
      </p:sp>
      <p:sp>
        <p:nvSpPr>
          <p:cNvPr id="6" name="TextBox 5"/>
          <p:cNvSpPr txBox="1"/>
          <p:nvPr/>
        </p:nvSpPr>
        <p:spPr>
          <a:xfrm>
            <a:off x="822960" y="2194560"/>
            <a:ext cx="1645920" cy="457200"/>
          </a:xfrm>
          <a:prstGeom prst="rect">
            <a:avLst/>
          </a:prstGeom>
          <a:noFill/>
        </p:spPr>
        <p:txBody>
          <a:bodyPr wrap="square">
            <a:spAutoFit/>
          </a:bodyPr>
          <a:lstStyle/>
          <a:p>
            <a:pPr algn="ctr">
              <a:defRPr sz="1200" b="0">
                <a:solidFill>
                  <a:srgbClr val="B0BEC5"/>
                </a:solidFill>
              </a:defRPr>
            </a:pPr>
            <a:r>
              <a:t>128-dim</a:t>
            </a:r>
          </a:p>
        </p:txBody>
      </p:sp>
      <p:sp>
        <p:nvSpPr>
          <p:cNvPr id="7" name="Rectangle 6"/>
          <p:cNvSpPr/>
          <p:nvPr/>
        </p:nvSpPr>
        <p:spPr>
          <a:xfrm>
            <a:off x="2926080" y="1371600"/>
            <a:ext cx="1828800" cy="1463040"/>
          </a:xfrm>
          <a:prstGeom prst="rect">
            <a:avLst/>
          </a:prstGeom>
          <a:solidFill>
            <a:srgbClr val="8E2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17520" y="1463040"/>
            <a:ext cx="1645920" cy="731520"/>
          </a:xfrm>
          <a:prstGeom prst="rect">
            <a:avLst/>
          </a:prstGeom>
          <a:noFill/>
        </p:spPr>
        <p:txBody>
          <a:bodyPr wrap="square">
            <a:spAutoFit/>
          </a:bodyPr>
          <a:lstStyle/>
          <a:p>
            <a:pPr algn="ctr">
              <a:defRPr sz="1400" b="1">
                <a:solidFill>
                  <a:srgbClr val="FFFFFF"/>
                </a:solidFill>
              </a:defRPr>
            </a:pPr>
            <a:r>
              <a:t>Positional</a:t>
            </a:r>
            <a:br/>
            <a:r>
              <a:t>Encoding</a:t>
            </a:r>
          </a:p>
        </p:txBody>
      </p:sp>
      <p:sp>
        <p:nvSpPr>
          <p:cNvPr id="9" name="TextBox 8"/>
          <p:cNvSpPr txBox="1"/>
          <p:nvPr/>
        </p:nvSpPr>
        <p:spPr>
          <a:xfrm>
            <a:off x="3017520" y="2194560"/>
            <a:ext cx="1645920" cy="457200"/>
          </a:xfrm>
          <a:prstGeom prst="rect">
            <a:avLst/>
          </a:prstGeom>
          <a:noFill/>
        </p:spPr>
        <p:txBody>
          <a:bodyPr wrap="square">
            <a:spAutoFit/>
          </a:bodyPr>
          <a:lstStyle/>
          <a:p>
            <a:pPr algn="ctr">
              <a:defRPr sz="1200" b="0">
                <a:solidFill>
                  <a:srgbClr val="B0BEC5"/>
                </a:solidFill>
              </a:defRPr>
            </a:pPr>
            <a:r>
              <a:t>sinusoidal</a:t>
            </a:r>
          </a:p>
        </p:txBody>
      </p:sp>
      <p:sp>
        <p:nvSpPr>
          <p:cNvPr id="10" name="Rectangle 9"/>
          <p:cNvSpPr/>
          <p:nvPr/>
        </p:nvSpPr>
        <p:spPr>
          <a:xfrm>
            <a:off x="5120640" y="1371600"/>
            <a:ext cx="1828800" cy="1463040"/>
          </a:xfrm>
          <a:prstGeom prst="rect">
            <a:avLst/>
          </a:prstGeom>
          <a:solidFill>
            <a:srgbClr val="E94E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463040"/>
            <a:ext cx="1645920" cy="731520"/>
          </a:xfrm>
          <a:prstGeom prst="rect">
            <a:avLst/>
          </a:prstGeom>
          <a:noFill/>
        </p:spPr>
        <p:txBody>
          <a:bodyPr wrap="square">
            <a:spAutoFit/>
          </a:bodyPr>
          <a:lstStyle/>
          <a:p>
            <a:pPr algn="ctr">
              <a:defRPr sz="1400" b="1">
                <a:solidFill>
                  <a:srgbClr val="FFFFFF"/>
                </a:solidFill>
              </a:defRPr>
            </a:pPr>
            <a:r>
              <a:t>Transformer</a:t>
            </a:r>
            <a:br/>
            <a:r>
              <a:t>Encoder</a:t>
            </a:r>
          </a:p>
        </p:txBody>
      </p:sp>
      <p:sp>
        <p:nvSpPr>
          <p:cNvPr id="12" name="TextBox 11"/>
          <p:cNvSpPr txBox="1"/>
          <p:nvPr/>
        </p:nvSpPr>
        <p:spPr>
          <a:xfrm>
            <a:off x="5212080" y="2194560"/>
            <a:ext cx="1645920" cy="457200"/>
          </a:xfrm>
          <a:prstGeom prst="rect">
            <a:avLst/>
          </a:prstGeom>
          <a:noFill/>
        </p:spPr>
        <p:txBody>
          <a:bodyPr wrap="square">
            <a:spAutoFit/>
          </a:bodyPr>
          <a:lstStyle/>
          <a:p>
            <a:pPr algn="ctr">
              <a:defRPr sz="1200" b="0">
                <a:solidFill>
                  <a:srgbClr val="B0BEC5"/>
                </a:solidFill>
              </a:defRPr>
            </a:pPr>
            <a:r>
              <a:t>4 heads</a:t>
            </a:r>
            <a:br/>
            <a:r>
              <a:t>3 layers</a:t>
            </a:r>
          </a:p>
        </p:txBody>
      </p:sp>
      <p:sp>
        <p:nvSpPr>
          <p:cNvPr id="13" name="Rectangle 12"/>
          <p:cNvSpPr/>
          <p:nvPr/>
        </p:nvSpPr>
        <p:spPr>
          <a:xfrm>
            <a:off x="7315200" y="1371600"/>
            <a:ext cx="1828800" cy="146304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06640" y="1463040"/>
            <a:ext cx="1645920" cy="731520"/>
          </a:xfrm>
          <a:prstGeom prst="rect">
            <a:avLst/>
          </a:prstGeom>
          <a:noFill/>
        </p:spPr>
        <p:txBody>
          <a:bodyPr wrap="square">
            <a:spAutoFit/>
          </a:bodyPr>
          <a:lstStyle/>
          <a:p>
            <a:pPr algn="ctr">
              <a:defRPr sz="1400" b="1">
                <a:solidFill>
                  <a:srgbClr val="FFFFFF"/>
                </a:solidFill>
              </a:defRPr>
            </a:pPr>
            <a:r>
              <a:t>Linear</a:t>
            </a:r>
            <a:br/>
            <a:r>
              <a:t>Decoder</a:t>
            </a:r>
          </a:p>
        </p:txBody>
      </p:sp>
      <p:sp>
        <p:nvSpPr>
          <p:cNvPr id="15" name="TextBox 14"/>
          <p:cNvSpPr txBox="1"/>
          <p:nvPr/>
        </p:nvSpPr>
        <p:spPr>
          <a:xfrm>
            <a:off x="7406640" y="2194560"/>
            <a:ext cx="1645920" cy="457200"/>
          </a:xfrm>
          <a:prstGeom prst="rect">
            <a:avLst/>
          </a:prstGeom>
          <a:noFill/>
        </p:spPr>
        <p:txBody>
          <a:bodyPr wrap="square">
            <a:spAutoFit/>
          </a:bodyPr>
          <a:lstStyle/>
          <a:p>
            <a:pPr algn="ctr">
              <a:defRPr sz="1200" b="0">
                <a:solidFill>
                  <a:srgbClr val="B0BEC5"/>
                </a:solidFill>
              </a:defRPr>
            </a:pPr>
            <a:r>
              <a:t>softmax</a:t>
            </a:r>
          </a:p>
        </p:txBody>
      </p:sp>
      <p:sp>
        <p:nvSpPr>
          <p:cNvPr id="16" name="Rectangle 15"/>
          <p:cNvSpPr/>
          <p:nvPr/>
        </p:nvSpPr>
        <p:spPr>
          <a:xfrm>
            <a:off x="9509760" y="1371600"/>
            <a:ext cx="1828800" cy="1463040"/>
          </a:xfrm>
          <a:prstGeom prst="rect">
            <a:avLst/>
          </a:prstGeom>
          <a:solidFill>
            <a:srgbClr val="FFD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0" y="1463040"/>
            <a:ext cx="1645920" cy="731520"/>
          </a:xfrm>
          <a:prstGeom prst="rect">
            <a:avLst/>
          </a:prstGeom>
          <a:noFill/>
        </p:spPr>
        <p:txBody>
          <a:bodyPr wrap="square">
            <a:spAutoFit/>
          </a:bodyPr>
          <a:lstStyle/>
          <a:p>
            <a:pPr algn="ctr">
              <a:defRPr sz="1400" b="1">
                <a:solidFill>
                  <a:srgbClr val="FFFFFF"/>
                </a:solidFill>
              </a:defRPr>
            </a:pPr>
            <a:r>
              <a:t>Output</a:t>
            </a:r>
            <a:br/>
            <a:r>
              <a:t>Sequence</a:t>
            </a:r>
          </a:p>
        </p:txBody>
      </p:sp>
      <p:sp>
        <p:nvSpPr>
          <p:cNvPr id="18" name="TextBox 17"/>
          <p:cNvSpPr txBox="1"/>
          <p:nvPr/>
        </p:nvSpPr>
        <p:spPr>
          <a:xfrm>
            <a:off x="9601200" y="2194560"/>
            <a:ext cx="1645920" cy="457200"/>
          </a:xfrm>
          <a:prstGeom prst="rect">
            <a:avLst/>
          </a:prstGeom>
          <a:noFill/>
        </p:spPr>
        <p:txBody>
          <a:bodyPr wrap="square">
            <a:spAutoFit/>
          </a:bodyPr>
          <a:lstStyle/>
          <a:p>
            <a:pPr algn="ctr">
              <a:defRPr sz="1200" b="0">
                <a:solidFill>
                  <a:srgbClr val="B0BEC5"/>
                </a:solidFill>
              </a:defRPr>
            </a:pPr>
            <a:r>
              <a:t>lemma+tags</a:t>
            </a:r>
          </a:p>
        </p:txBody>
      </p:sp>
      <p:sp>
        <p:nvSpPr>
          <p:cNvPr id="19" name="TextBox 18"/>
          <p:cNvSpPr txBox="1"/>
          <p:nvPr/>
        </p:nvSpPr>
        <p:spPr>
          <a:xfrm>
            <a:off x="2560320" y="1828800"/>
            <a:ext cx="457200" cy="457200"/>
          </a:xfrm>
          <a:prstGeom prst="rect">
            <a:avLst/>
          </a:prstGeom>
          <a:noFill/>
        </p:spPr>
        <p:txBody>
          <a:bodyPr wrap="square">
            <a:spAutoFit/>
          </a:bodyPr>
          <a:lstStyle/>
          <a:p>
            <a:pPr algn="ctr">
              <a:defRPr sz="2400" b="1">
                <a:solidFill>
                  <a:srgbClr val="FFD54F"/>
                </a:solidFill>
              </a:defRPr>
            </a:pPr>
            <a:r>
              <a:t>→</a:t>
            </a:r>
          </a:p>
        </p:txBody>
      </p:sp>
      <p:sp>
        <p:nvSpPr>
          <p:cNvPr id="20" name="TextBox 19"/>
          <p:cNvSpPr txBox="1"/>
          <p:nvPr/>
        </p:nvSpPr>
        <p:spPr>
          <a:xfrm>
            <a:off x="4754880" y="1828800"/>
            <a:ext cx="457200" cy="457200"/>
          </a:xfrm>
          <a:prstGeom prst="rect">
            <a:avLst/>
          </a:prstGeom>
          <a:noFill/>
        </p:spPr>
        <p:txBody>
          <a:bodyPr wrap="square">
            <a:spAutoFit/>
          </a:bodyPr>
          <a:lstStyle/>
          <a:p>
            <a:pPr algn="ctr">
              <a:defRPr sz="2400" b="1">
                <a:solidFill>
                  <a:srgbClr val="FFD54F"/>
                </a:solidFill>
              </a:defRPr>
            </a:pPr>
            <a:r>
              <a:t>→</a:t>
            </a:r>
          </a:p>
        </p:txBody>
      </p:sp>
      <p:sp>
        <p:nvSpPr>
          <p:cNvPr id="21" name="TextBox 20"/>
          <p:cNvSpPr txBox="1"/>
          <p:nvPr/>
        </p:nvSpPr>
        <p:spPr>
          <a:xfrm>
            <a:off x="6949440" y="1828800"/>
            <a:ext cx="457200" cy="457200"/>
          </a:xfrm>
          <a:prstGeom prst="rect">
            <a:avLst/>
          </a:prstGeom>
          <a:noFill/>
        </p:spPr>
        <p:txBody>
          <a:bodyPr wrap="square">
            <a:spAutoFit/>
          </a:bodyPr>
          <a:lstStyle/>
          <a:p>
            <a:pPr algn="ctr">
              <a:defRPr sz="2400" b="1">
                <a:solidFill>
                  <a:srgbClr val="FFD54F"/>
                </a:solidFill>
              </a:defRPr>
            </a:pPr>
            <a:r>
              <a:t>→</a:t>
            </a:r>
          </a:p>
        </p:txBody>
      </p:sp>
      <p:sp>
        <p:nvSpPr>
          <p:cNvPr id="22" name="TextBox 21"/>
          <p:cNvSpPr txBox="1"/>
          <p:nvPr/>
        </p:nvSpPr>
        <p:spPr>
          <a:xfrm>
            <a:off x="9144000" y="1828800"/>
            <a:ext cx="457200" cy="457200"/>
          </a:xfrm>
          <a:prstGeom prst="rect">
            <a:avLst/>
          </a:prstGeom>
          <a:noFill/>
        </p:spPr>
        <p:txBody>
          <a:bodyPr wrap="square">
            <a:spAutoFit/>
          </a:bodyPr>
          <a:lstStyle/>
          <a:p>
            <a:pPr algn="ctr">
              <a:defRPr sz="2400" b="1">
                <a:solidFill>
                  <a:srgbClr val="FFD54F"/>
                </a:solidFill>
              </a:defRPr>
            </a:pPr>
            <a:r>
              <a:t>→</a:t>
            </a:r>
          </a:p>
        </p:txBody>
      </p:sp>
      <p:sp>
        <p:nvSpPr>
          <p:cNvPr id="23" name="TextBox 22"/>
          <p:cNvSpPr txBox="1"/>
          <p:nvPr/>
        </p:nvSpPr>
        <p:spPr>
          <a:xfrm>
            <a:off x="548640" y="3291840"/>
            <a:ext cx="5029200" cy="3200400"/>
          </a:xfrm>
          <a:prstGeom prst="rect">
            <a:avLst/>
          </a:prstGeom>
          <a:noFill/>
        </p:spPr>
        <p:txBody>
          <a:bodyPr wrap="square">
            <a:spAutoFit/>
          </a:bodyPr>
          <a:lstStyle/>
          <a:p>
            <a:pPr>
              <a:spcAft>
                <a:spcPts val="400"/>
              </a:spcAft>
              <a:defRPr sz="1500">
                <a:solidFill>
                  <a:srgbClr val="B0BEC5"/>
                </a:solidFill>
              </a:defRPr>
            </a:pPr>
            <a:r>
              <a:t>Model Details:</a:t>
            </a:r>
          </a:p>
          <a:p>
            <a:pPr>
              <a:spcAft>
                <a:spcPts val="400"/>
              </a:spcAft>
              <a:defRPr sz="1500">
                <a:solidFill>
                  <a:srgbClr val="B0BEC5"/>
                </a:solidFill>
              </a:defRPr>
            </a:pPr>
            <a:r>
              <a:t>  • Input: character sequence of surface word</a:t>
            </a:r>
          </a:p>
          <a:p>
            <a:pPr>
              <a:spcAft>
                <a:spcPts val="400"/>
              </a:spcAft>
              <a:defRPr sz="1500">
                <a:solidFill>
                  <a:srgbClr val="B0BEC5"/>
                </a:solidFill>
              </a:defRPr>
            </a:pPr>
            <a:r>
              <a:t>  • Output: morphological analysis string</a:t>
            </a:r>
          </a:p>
          <a:p>
            <a:pPr>
              <a:spcAft>
                <a:spcPts val="400"/>
              </a:spcAft>
              <a:defRPr sz="1500">
                <a:solidFill>
                  <a:srgbClr val="B0BEC5"/>
                </a:solidFill>
              </a:defRPr>
            </a:pPr>
            <a:r>
              <a:t>  • Trained on UniMorph English dataset (5,000 entries)</a:t>
            </a:r>
          </a:p>
          <a:p>
            <a:pPr>
              <a:spcAft>
                <a:spcPts val="400"/>
              </a:spcAft>
              <a:defRPr sz="1500">
                <a:solidFill>
                  <a:srgbClr val="B0BEC5"/>
                </a:solidFill>
              </a:defRPr>
            </a:pPr>
            <a:r>
              <a:t>  • Character vocabulary: all lowercase + Unicode</a:t>
            </a:r>
          </a:p>
          <a:p>
            <a:pPr>
              <a:spcAft>
                <a:spcPts val="400"/>
              </a:spcAft>
              <a:defRPr sz="1500">
                <a:solidFill>
                  <a:srgbClr val="B0BEC5"/>
                </a:solidFill>
              </a:defRPr>
            </a:pPr>
            <a:r>
              <a:t>  • Loss: Cross-entropy with label smoothing</a:t>
            </a:r>
          </a:p>
        </p:txBody>
      </p:sp>
      <p:sp>
        <p:nvSpPr>
          <p:cNvPr id="24" name="TextBox 23"/>
          <p:cNvSpPr txBox="1"/>
          <p:nvPr/>
        </p:nvSpPr>
        <p:spPr>
          <a:xfrm>
            <a:off x="6400800" y="3291840"/>
            <a:ext cx="5029200" cy="3200400"/>
          </a:xfrm>
          <a:prstGeom prst="rect">
            <a:avLst/>
          </a:prstGeom>
          <a:noFill/>
        </p:spPr>
        <p:txBody>
          <a:bodyPr wrap="square">
            <a:spAutoFit/>
          </a:bodyPr>
          <a:lstStyle/>
          <a:p>
            <a:pPr>
              <a:spcAft>
                <a:spcPts val="400"/>
              </a:spcAft>
              <a:defRPr sz="1500">
                <a:solidFill>
                  <a:srgbClr val="B0BEC5"/>
                </a:solidFill>
              </a:defRPr>
            </a:pPr>
            <a:r>
              <a:t>Training Configuration:</a:t>
            </a:r>
          </a:p>
          <a:p>
            <a:pPr>
              <a:spcAft>
                <a:spcPts val="400"/>
              </a:spcAft>
              <a:defRPr sz="1500">
                <a:solidFill>
                  <a:srgbClr val="B0BEC5"/>
                </a:solidFill>
              </a:defRPr>
            </a:pPr>
            <a:r>
              <a:t>  • Optimizer: AdamW (lr=0.001)</a:t>
            </a:r>
          </a:p>
          <a:p>
            <a:pPr>
              <a:spcAft>
                <a:spcPts val="400"/>
              </a:spcAft>
              <a:defRPr sz="1500">
                <a:solidFill>
                  <a:srgbClr val="B0BEC5"/>
                </a:solidFill>
              </a:defRPr>
            </a:pPr>
            <a:r>
              <a:t>  • Batch size: 64</a:t>
            </a:r>
          </a:p>
          <a:p>
            <a:pPr>
              <a:spcAft>
                <a:spcPts val="400"/>
              </a:spcAft>
              <a:defRPr sz="1500">
                <a:solidFill>
                  <a:srgbClr val="B0BEC5"/>
                </a:solidFill>
              </a:defRPr>
            </a:pPr>
            <a:r>
              <a:t>  • Epochs: 50 with early stopping</a:t>
            </a:r>
          </a:p>
          <a:p>
            <a:pPr>
              <a:spcAft>
                <a:spcPts val="400"/>
              </a:spcAft>
              <a:defRPr sz="1500">
                <a:solidFill>
                  <a:srgbClr val="B0BEC5"/>
                </a:solidFill>
              </a:defRPr>
            </a:pPr>
            <a:r>
              <a:t>  • Handles OOV words the FST cannot process</a:t>
            </a:r>
          </a:p>
          <a:p>
            <a:pPr>
              <a:spcAft>
                <a:spcPts val="400"/>
              </a:spcAft>
              <a:defRPr sz="1500">
                <a:solidFill>
                  <a:srgbClr val="B0BEC5"/>
                </a:solidFill>
              </a:defRPr>
            </a:pPr>
            <a:r>
              <a:t>  • Serves as fallback in hybrid pipeline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058400" cy="640080"/>
          </a:xfrm>
          <a:prstGeom prst="rect">
            <a:avLst/>
          </a:prstGeom>
          <a:noFill/>
        </p:spPr>
        <p:txBody>
          <a:bodyPr wrap="square">
            <a:spAutoFit/>
          </a:bodyPr>
          <a:lstStyle/>
          <a:p>
            <a:pPr algn="l">
              <a:defRPr sz="3000" b="1">
                <a:solidFill>
                  <a:srgbClr val="53D8FB"/>
                </a:solidFill>
              </a:defRPr>
            </a:pPr>
            <a:r>
              <a:t>FST vs Neural Network — Comparative Analysis</a:t>
            </a:r>
          </a:p>
        </p:txBody>
      </p:sp>
      <p:sp>
        <p:nvSpPr>
          <p:cNvPr id="4" name="Rectangle 3"/>
          <p:cNvSpPr/>
          <p:nvPr/>
        </p:nvSpPr>
        <p:spPr>
          <a:xfrm>
            <a:off x="731520" y="1188720"/>
            <a:ext cx="10515600" cy="502920"/>
          </a:xfrm>
          <a:prstGeom prst="rect">
            <a:avLst/>
          </a:prstGeom>
          <a:solidFill>
            <a:srgbClr val="003D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261872"/>
            <a:ext cx="2743200" cy="365760"/>
          </a:xfrm>
          <a:prstGeom prst="rect">
            <a:avLst/>
          </a:prstGeom>
          <a:noFill/>
        </p:spPr>
        <p:txBody>
          <a:bodyPr wrap="square">
            <a:spAutoFit/>
          </a:bodyPr>
          <a:lstStyle/>
          <a:p>
            <a:pPr algn="l">
              <a:defRPr sz="1400" b="1">
                <a:solidFill>
                  <a:srgbClr val="FFFFFF"/>
                </a:solidFill>
              </a:defRPr>
            </a:pPr>
            <a:r>
              <a:t>Aspect</a:t>
            </a:r>
          </a:p>
        </p:txBody>
      </p:sp>
      <p:sp>
        <p:nvSpPr>
          <p:cNvPr id="6" name="TextBox 5"/>
          <p:cNvSpPr txBox="1"/>
          <p:nvPr/>
        </p:nvSpPr>
        <p:spPr>
          <a:xfrm>
            <a:off x="3657600" y="1261872"/>
            <a:ext cx="3657600" cy="365760"/>
          </a:xfrm>
          <a:prstGeom prst="rect">
            <a:avLst/>
          </a:prstGeom>
          <a:noFill/>
        </p:spPr>
        <p:txBody>
          <a:bodyPr wrap="square">
            <a:spAutoFit/>
          </a:bodyPr>
          <a:lstStyle/>
          <a:p>
            <a:pPr algn="l">
              <a:defRPr sz="1400" b="1">
                <a:solidFill>
                  <a:srgbClr val="FFFFFF"/>
                </a:solidFill>
              </a:defRPr>
            </a:pPr>
            <a:r>
              <a:t>FST (Rule-based)</a:t>
            </a:r>
          </a:p>
        </p:txBody>
      </p:sp>
      <p:sp>
        <p:nvSpPr>
          <p:cNvPr id="7" name="TextBox 6"/>
          <p:cNvSpPr txBox="1"/>
          <p:nvPr/>
        </p:nvSpPr>
        <p:spPr>
          <a:xfrm>
            <a:off x="7498079" y="1261872"/>
            <a:ext cx="3657600" cy="365760"/>
          </a:xfrm>
          <a:prstGeom prst="rect">
            <a:avLst/>
          </a:prstGeom>
          <a:noFill/>
        </p:spPr>
        <p:txBody>
          <a:bodyPr wrap="square">
            <a:spAutoFit/>
          </a:bodyPr>
          <a:lstStyle/>
          <a:p>
            <a:pPr algn="l">
              <a:defRPr sz="1400" b="1">
                <a:solidFill>
                  <a:srgbClr val="FFFFFF"/>
                </a:solidFill>
              </a:defRPr>
            </a:pPr>
            <a:r>
              <a:t>Neural Network</a:t>
            </a:r>
          </a:p>
        </p:txBody>
      </p:sp>
      <p:sp>
        <p:nvSpPr>
          <p:cNvPr id="8" name="Rectangle 7"/>
          <p:cNvSpPr/>
          <p:nvPr/>
        </p:nvSpPr>
        <p:spPr>
          <a:xfrm>
            <a:off x="731520" y="1755648"/>
            <a:ext cx="10515600" cy="502920"/>
          </a:xfrm>
          <a:prstGeom prst="rect">
            <a:avLst/>
          </a:prstGeom>
          <a:solidFill>
            <a:srgbClr val="15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828800"/>
            <a:ext cx="2743200" cy="365760"/>
          </a:xfrm>
          <a:prstGeom prst="rect">
            <a:avLst/>
          </a:prstGeom>
          <a:noFill/>
        </p:spPr>
        <p:txBody>
          <a:bodyPr wrap="square">
            <a:spAutoFit/>
          </a:bodyPr>
          <a:lstStyle/>
          <a:p>
            <a:pPr algn="l">
              <a:defRPr sz="1400" b="0">
                <a:solidFill>
                  <a:srgbClr val="FFD54F"/>
                </a:solidFill>
              </a:defRPr>
            </a:pPr>
            <a:r>
              <a:t>Coverage</a:t>
            </a:r>
          </a:p>
        </p:txBody>
      </p:sp>
      <p:sp>
        <p:nvSpPr>
          <p:cNvPr id="10" name="TextBox 9"/>
          <p:cNvSpPr txBox="1"/>
          <p:nvPr/>
        </p:nvSpPr>
        <p:spPr>
          <a:xfrm>
            <a:off x="3657600" y="1828800"/>
            <a:ext cx="3657600" cy="365760"/>
          </a:xfrm>
          <a:prstGeom prst="rect">
            <a:avLst/>
          </a:prstGeom>
          <a:noFill/>
        </p:spPr>
        <p:txBody>
          <a:bodyPr wrap="square">
            <a:spAutoFit/>
          </a:bodyPr>
          <a:lstStyle/>
          <a:p>
            <a:pPr algn="l">
              <a:defRPr sz="1400" b="0">
                <a:solidFill>
                  <a:srgbClr val="B0BEC5"/>
                </a:solidFill>
              </a:defRPr>
            </a:pPr>
            <a:r>
              <a:t>36.9% (lexicon-bound)</a:t>
            </a:r>
          </a:p>
        </p:txBody>
      </p:sp>
      <p:sp>
        <p:nvSpPr>
          <p:cNvPr id="11" name="TextBox 10"/>
          <p:cNvSpPr txBox="1"/>
          <p:nvPr/>
        </p:nvSpPr>
        <p:spPr>
          <a:xfrm>
            <a:off x="7498079" y="1828800"/>
            <a:ext cx="3657600" cy="365760"/>
          </a:xfrm>
          <a:prstGeom prst="rect">
            <a:avLst/>
          </a:prstGeom>
          <a:noFill/>
        </p:spPr>
        <p:txBody>
          <a:bodyPr wrap="square">
            <a:spAutoFit/>
          </a:bodyPr>
          <a:lstStyle/>
          <a:p>
            <a:pPr algn="l">
              <a:defRPr sz="1400" b="0">
                <a:solidFill>
                  <a:srgbClr val="B0BEC5"/>
                </a:solidFill>
              </a:defRPr>
            </a:pPr>
            <a:r>
              <a:t>100% (any input)</a:t>
            </a:r>
          </a:p>
        </p:txBody>
      </p:sp>
      <p:sp>
        <p:nvSpPr>
          <p:cNvPr id="12" name="Rectangle 11"/>
          <p:cNvSpPr/>
          <p:nvPr/>
        </p:nvSpPr>
        <p:spPr>
          <a:xfrm>
            <a:off x="731520" y="2322576"/>
            <a:ext cx="10515600" cy="502920"/>
          </a:xfrm>
          <a:prstGeom prst="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2395728"/>
            <a:ext cx="2743200" cy="365760"/>
          </a:xfrm>
          <a:prstGeom prst="rect">
            <a:avLst/>
          </a:prstGeom>
          <a:noFill/>
        </p:spPr>
        <p:txBody>
          <a:bodyPr wrap="square">
            <a:spAutoFit/>
          </a:bodyPr>
          <a:lstStyle/>
          <a:p>
            <a:pPr algn="l">
              <a:defRPr sz="1400" b="0">
                <a:solidFill>
                  <a:srgbClr val="FFD54F"/>
                </a:solidFill>
              </a:defRPr>
            </a:pPr>
            <a:r>
              <a:t>Accuracy (known)</a:t>
            </a:r>
          </a:p>
        </p:txBody>
      </p:sp>
      <p:sp>
        <p:nvSpPr>
          <p:cNvPr id="14" name="TextBox 13"/>
          <p:cNvSpPr txBox="1"/>
          <p:nvPr/>
        </p:nvSpPr>
        <p:spPr>
          <a:xfrm>
            <a:off x="3657600" y="2395728"/>
            <a:ext cx="3657600" cy="365760"/>
          </a:xfrm>
          <a:prstGeom prst="rect">
            <a:avLst/>
          </a:prstGeom>
          <a:noFill/>
        </p:spPr>
        <p:txBody>
          <a:bodyPr wrap="square">
            <a:spAutoFit/>
          </a:bodyPr>
          <a:lstStyle/>
          <a:p>
            <a:pPr algn="l">
              <a:defRPr sz="1400" b="0">
                <a:solidFill>
                  <a:srgbClr val="B0BEC5"/>
                </a:solidFill>
              </a:defRPr>
            </a:pPr>
            <a:r>
              <a:t>98%+ on known words</a:t>
            </a:r>
          </a:p>
        </p:txBody>
      </p:sp>
      <p:sp>
        <p:nvSpPr>
          <p:cNvPr id="15" name="TextBox 14"/>
          <p:cNvSpPr txBox="1"/>
          <p:nvPr/>
        </p:nvSpPr>
        <p:spPr>
          <a:xfrm>
            <a:off x="7498079" y="2395728"/>
            <a:ext cx="3657600" cy="365760"/>
          </a:xfrm>
          <a:prstGeom prst="rect">
            <a:avLst/>
          </a:prstGeom>
          <a:noFill/>
        </p:spPr>
        <p:txBody>
          <a:bodyPr wrap="square">
            <a:spAutoFit/>
          </a:bodyPr>
          <a:lstStyle/>
          <a:p>
            <a:pPr algn="l">
              <a:defRPr sz="1400" b="0">
                <a:solidFill>
                  <a:srgbClr val="B0BEC5"/>
                </a:solidFill>
              </a:defRPr>
            </a:pPr>
            <a:r>
              <a:t>~72% overall</a:t>
            </a:r>
          </a:p>
        </p:txBody>
      </p:sp>
      <p:sp>
        <p:nvSpPr>
          <p:cNvPr id="16" name="Rectangle 15"/>
          <p:cNvSpPr/>
          <p:nvPr/>
        </p:nvSpPr>
        <p:spPr>
          <a:xfrm>
            <a:off x="731520" y="2889504"/>
            <a:ext cx="10515600" cy="502920"/>
          </a:xfrm>
          <a:prstGeom prst="rect">
            <a:avLst/>
          </a:prstGeom>
          <a:solidFill>
            <a:srgbClr val="15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2962656"/>
            <a:ext cx="2743200" cy="365760"/>
          </a:xfrm>
          <a:prstGeom prst="rect">
            <a:avLst/>
          </a:prstGeom>
          <a:noFill/>
        </p:spPr>
        <p:txBody>
          <a:bodyPr wrap="square">
            <a:spAutoFit/>
          </a:bodyPr>
          <a:lstStyle/>
          <a:p>
            <a:pPr algn="l">
              <a:defRPr sz="1400" b="0">
                <a:solidFill>
                  <a:srgbClr val="FFD54F"/>
                </a:solidFill>
              </a:defRPr>
            </a:pPr>
            <a:r>
              <a:t>Speed</a:t>
            </a:r>
          </a:p>
        </p:txBody>
      </p:sp>
      <p:sp>
        <p:nvSpPr>
          <p:cNvPr id="18" name="TextBox 17"/>
          <p:cNvSpPr txBox="1"/>
          <p:nvPr/>
        </p:nvSpPr>
        <p:spPr>
          <a:xfrm>
            <a:off x="3657600" y="2962656"/>
            <a:ext cx="3657600" cy="365760"/>
          </a:xfrm>
          <a:prstGeom prst="rect">
            <a:avLst/>
          </a:prstGeom>
          <a:noFill/>
        </p:spPr>
        <p:txBody>
          <a:bodyPr wrap="square">
            <a:spAutoFit/>
          </a:bodyPr>
          <a:lstStyle/>
          <a:p>
            <a:pPr algn="l">
              <a:defRPr sz="1400" b="0">
                <a:solidFill>
                  <a:srgbClr val="B0BEC5"/>
                </a:solidFill>
              </a:defRPr>
            </a:pPr>
            <a:r>
              <a:t>&lt; 1ms per word</a:t>
            </a:r>
          </a:p>
        </p:txBody>
      </p:sp>
      <p:sp>
        <p:nvSpPr>
          <p:cNvPr id="19" name="TextBox 18"/>
          <p:cNvSpPr txBox="1"/>
          <p:nvPr/>
        </p:nvSpPr>
        <p:spPr>
          <a:xfrm>
            <a:off x="7498079" y="2962656"/>
            <a:ext cx="3657600" cy="365760"/>
          </a:xfrm>
          <a:prstGeom prst="rect">
            <a:avLst/>
          </a:prstGeom>
          <a:noFill/>
        </p:spPr>
        <p:txBody>
          <a:bodyPr wrap="square">
            <a:spAutoFit/>
          </a:bodyPr>
          <a:lstStyle/>
          <a:p>
            <a:pPr algn="l">
              <a:defRPr sz="1400" b="0">
                <a:solidFill>
                  <a:srgbClr val="B0BEC5"/>
                </a:solidFill>
              </a:defRPr>
            </a:pPr>
            <a:r>
              <a:t>~15ms per word</a:t>
            </a:r>
          </a:p>
        </p:txBody>
      </p:sp>
      <p:sp>
        <p:nvSpPr>
          <p:cNvPr id="20" name="Rectangle 19"/>
          <p:cNvSpPr/>
          <p:nvPr/>
        </p:nvSpPr>
        <p:spPr>
          <a:xfrm>
            <a:off x="731520" y="3456432"/>
            <a:ext cx="10515600" cy="502920"/>
          </a:xfrm>
          <a:prstGeom prst="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3529584"/>
            <a:ext cx="2743200" cy="365760"/>
          </a:xfrm>
          <a:prstGeom prst="rect">
            <a:avLst/>
          </a:prstGeom>
          <a:noFill/>
        </p:spPr>
        <p:txBody>
          <a:bodyPr wrap="square">
            <a:spAutoFit/>
          </a:bodyPr>
          <a:lstStyle/>
          <a:p>
            <a:pPr algn="l">
              <a:defRPr sz="1400" b="0">
                <a:solidFill>
                  <a:srgbClr val="FFD54F"/>
                </a:solidFill>
              </a:defRPr>
            </a:pPr>
            <a:r>
              <a:t>Interpretability</a:t>
            </a:r>
          </a:p>
        </p:txBody>
      </p:sp>
      <p:sp>
        <p:nvSpPr>
          <p:cNvPr id="22" name="TextBox 21"/>
          <p:cNvSpPr txBox="1"/>
          <p:nvPr/>
        </p:nvSpPr>
        <p:spPr>
          <a:xfrm>
            <a:off x="3657600" y="3529584"/>
            <a:ext cx="3657600" cy="365760"/>
          </a:xfrm>
          <a:prstGeom prst="rect">
            <a:avLst/>
          </a:prstGeom>
          <a:noFill/>
        </p:spPr>
        <p:txBody>
          <a:bodyPr wrap="square">
            <a:spAutoFit/>
          </a:bodyPr>
          <a:lstStyle/>
          <a:p>
            <a:pPr algn="l">
              <a:defRPr sz="1400" b="0">
                <a:solidFill>
                  <a:srgbClr val="B0BEC5"/>
                </a:solidFill>
              </a:defRPr>
            </a:pPr>
            <a:r>
              <a:t>Fully transparent states</a:t>
            </a:r>
          </a:p>
        </p:txBody>
      </p:sp>
      <p:sp>
        <p:nvSpPr>
          <p:cNvPr id="23" name="TextBox 22"/>
          <p:cNvSpPr txBox="1"/>
          <p:nvPr/>
        </p:nvSpPr>
        <p:spPr>
          <a:xfrm>
            <a:off x="7498079" y="3529584"/>
            <a:ext cx="3657600" cy="365760"/>
          </a:xfrm>
          <a:prstGeom prst="rect">
            <a:avLst/>
          </a:prstGeom>
          <a:noFill/>
        </p:spPr>
        <p:txBody>
          <a:bodyPr wrap="square">
            <a:spAutoFit/>
          </a:bodyPr>
          <a:lstStyle/>
          <a:p>
            <a:pPr algn="l">
              <a:defRPr sz="1400" b="0">
                <a:solidFill>
                  <a:srgbClr val="B0BEC5"/>
                </a:solidFill>
              </a:defRPr>
            </a:pPr>
            <a:r>
              <a:t>Black-box attention</a:t>
            </a:r>
          </a:p>
        </p:txBody>
      </p:sp>
      <p:sp>
        <p:nvSpPr>
          <p:cNvPr id="24" name="Rectangle 23"/>
          <p:cNvSpPr/>
          <p:nvPr/>
        </p:nvSpPr>
        <p:spPr>
          <a:xfrm>
            <a:off x="731520" y="4023360"/>
            <a:ext cx="10515600" cy="502920"/>
          </a:xfrm>
          <a:prstGeom prst="rect">
            <a:avLst/>
          </a:prstGeom>
          <a:solidFill>
            <a:srgbClr val="15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4096512"/>
            <a:ext cx="2743200" cy="365760"/>
          </a:xfrm>
          <a:prstGeom prst="rect">
            <a:avLst/>
          </a:prstGeom>
          <a:noFill/>
        </p:spPr>
        <p:txBody>
          <a:bodyPr wrap="square">
            <a:spAutoFit/>
          </a:bodyPr>
          <a:lstStyle/>
          <a:p>
            <a:pPr algn="l">
              <a:defRPr sz="1400" b="0">
                <a:solidFill>
                  <a:srgbClr val="FFD54F"/>
                </a:solidFill>
              </a:defRPr>
            </a:pPr>
            <a:r>
              <a:t>OOV Handling</a:t>
            </a:r>
          </a:p>
        </p:txBody>
      </p:sp>
      <p:sp>
        <p:nvSpPr>
          <p:cNvPr id="26" name="TextBox 25"/>
          <p:cNvSpPr txBox="1"/>
          <p:nvPr/>
        </p:nvSpPr>
        <p:spPr>
          <a:xfrm>
            <a:off x="3657600" y="4096512"/>
            <a:ext cx="3657600" cy="365760"/>
          </a:xfrm>
          <a:prstGeom prst="rect">
            <a:avLst/>
          </a:prstGeom>
          <a:noFill/>
        </p:spPr>
        <p:txBody>
          <a:bodyPr wrap="square">
            <a:spAutoFit/>
          </a:bodyPr>
          <a:lstStyle/>
          <a:p>
            <a:pPr algn="l">
              <a:defRPr sz="1400" b="0">
                <a:solidFill>
                  <a:srgbClr val="B0BEC5"/>
                </a:solidFill>
              </a:defRPr>
            </a:pPr>
            <a:r>
              <a:t>Cannot (fails gracefully)</a:t>
            </a:r>
          </a:p>
        </p:txBody>
      </p:sp>
      <p:sp>
        <p:nvSpPr>
          <p:cNvPr id="27" name="TextBox 26"/>
          <p:cNvSpPr txBox="1"/>
          <p:nvPr/>
        </p:nvSpPr>
        <p:spPr>
          <a:xfrm>
            <a:off x="7498079" y="4096512"/>
            <a:ext cx="3657600" cy="365760"/>
          </a:xfrm>
          <a:prstGeom prst="rect">
            <a:avLst/>
          </a:prstGeom>
          <a:noFill/>
        </p:spPr>
        <p:txBody>
          <a:bodyPr wrap="square">
            <a:spAutoFit/>
          </a:bodyPr>
          <a:lstStyle/>
          <a:p>
            <a:pPr algn="l">
              <a:defRPr sz="1400" b="0">
                <a:solidFill>
                  <a:srgbClr val="B0BEC5"/>
                </a:solidFill>
              </a:defRPr>
            </a:pPr>
            <a:r>
              <a:t>Generalizes to new words</a:t>
            </a:r>
          </a:p>
        </p:txBody>
      </p:sp>
      <p:sp>
        <p:nvSpPr>
          <p:cNvPr id="28" name="Rectangle 27"/>
          <p:cNvSpPr/>
          <p:nvPr/>
        </p:nvSpPr>
        <p:spPr>
          <a:xfrm>
            <a:off x="731520" y="4590288"/>
            <a:ext cx="10515600" cy="502920"/>
          </a:xfrm>
          <a:prstGeom prst="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4663440"/>
            <a:ext cx="2743200" cy="365760"/>
          </a:xfrm>
          <a:prstGeom prst="rect">
            <a:avLst/>
          </a:prstGeom>
          <a:noFill/>
        </p:spPr>
        <p:txBody>
          <a:bodyPr wrap="square">
            <a:spAutoFit/>
          </a:bodyPr>
          <a:lstStyle/>
          <a:p>
            <a:pPr algn="l">
              <a:defRPr sz="1400" b="0">
                <a:solidFill>
                  <a:srgbClr val="FFD54F"/>
                </a:solidFill>
              </a:defRPr>
            </a:pPr>
            <a:r>
              <a:t>Maintenance</a:t>
            </a:r>
          </a:p>
        </p:txBody>
      </p:sp>
      <p:sp>
        <p:nvSpPr>
          <p:cNvPr id="30" name="TextBox 29"/>
          <p:cNvSpPr txBox="1"/>
          <p:nvPr/>
        </p:nvSpPr>
        <p:spPr>
          <a:xfrm>
            <a:off x="3657600" y="4663440"/>
            <a:ext cx="3657600" cy="365760"/>
          </a:xfrm>
          <a:prstGeom prst="rect">
            <a:avLst/>
          </a:prstGeom>
          <a:noFill/>
        </p:spPr>
        <p:txBody>
          <a:bodyPr wrap="square">
            <a:spAutoFit/>
          </a:bodyPr>
          <a:lstStyle/>
          <a:p>
            <a:pPr algn="l">
              <a:defRPr sz="1400" b="0">
                <a:solidFill>
                  <a:srgbClr val="B0BEC5"/>
                </a:solidFill>
              </a:defRPr>
            </a:pPr>
            <a:r>
              <a:t>Manual rule addition</a:t>
            </a:r>
          </a:p>
        </p:txBody>
      </p:sp>
      <p:sp>
        <p:nvSpPr>
          <p:cNvPr id="31" name="TextBox 30"/>
          <p:cNvSpPr txBox="1"/>
          <p:nvPr/>
        </p:nvSpPr>
        <p:spPr>
          <a:xfrm>
            <a:off x="7498079" y="4663440"/>
            <a:ext cx="3657600" cy="365760"/>
          </a:xfrm>
          <a:prstGeom prst="rect">
            <a:avLst/>
          </a:prstGeom>
          <a:noFill/>
        </p:spPr>
        <p:txBody>
          <a:bodyPr wrap="square">
            <a:spAutoFit/>
          </a:bodyPr>
          <a:lstStyle/>
          <a:p>
            <a:pPr algn="l">
              <a:defRPr sz="1400" b="0">
                <a:solidFill>
                  <a:srgbClr val="B0BEC5"/>
                </a:solidFill>
              </a:defRPr>
            </a:pPr>
            <a:r>
              <a:t>Retrain with new data</a:t>
            </a:r>
          </a:p>
        </p:txBody>
      </p:sp>
      <p:sp>
        <p:nvSpPr>
          <p:cNvPr id="32" name="Rectangle 31"/>
          <p:cNvSpPr/>
          <p:nvPr/>
        </p:nvSpPr>
        <p:spPr>
          <a:xfrm>
            <a:off x="731520" y="5157216"/>
            <a:ext cx="10515600" cy="502920"/>
          </a:xfrm>
          <a:prstGeom prst="rect">
            <a:avLst/>
          </a:prstGeom>
          <a:solidFill>
            <a:srgbClr val="15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 y="5230368"/>
            <a:ext cx="2743200" cy="365760"/>
          </a:xfrm>
          <a:prstGeom prst="rect">
            <a:avLst/>
          </a:prstGeom>
          <a:noFill/>
        </p:spPr>
        <p:txBody>
          <a:bodyPr wrap="square">
            <a:spAutoFit/>
          </a:bodyPr>
          <a:lstStyle/>
          <a:p>
            <a:pPr algn="l">
              <a:defRPr sz="1400" b="0">
                <a:solidFill>
                  <a:srgbClr val="FFD54F"/>
                </a:solidFill>
              </a:defRPr>
            </a:pPr>
            <a:r>
              <a:t>Data needed</a:t>
            </a:r>
          </a:p>
        </p:txBody>
      </p:sp>
      <p:sp>
        <p:nvSpPr>
          <p:cNvPr id="34" name="TextBox 33"/>
          <p:cNvSpPr txBox="1"/>
          <p:nvPr/>
        </p:nvSpPr>
        <p:spPr>
          <a:xfrm>
            <a:off x="3657600" y="5230368"/>
            <a:ext cx="3657600" cy="365760"/>
          </a:xfrm>
          <a:prstGeom prst="rect">
            <a:avLst/>
          </a:prstGeom>
          <a:noFill/>
        </p:spPr>
        <p:txBody>
          <a:bodyPr wrap="square">
            <a:spAutoFit/>
          </a:bodyPr>
          <a:lstStyle/>
          <a:p>
            <a:pPr algn="l">
              <a:defRPr sz="1400" b="0">
                <a:solidFill>
                  <a:srgbClr val="B0BEC5"/>
                </a:solidFill>
              </a:defRPr>
            </a:pPr>
            <a:r>
              <a:t>Linguistic knowledge</a:t>
            </a:r>
          </a:p>
        </p:txBody>
      </p:sp>
      <p:sp>
        <p:nvSpPr>
          <p:cNvPr id="35" name="TextBox 34"/>
          <p:cNvSpPr txBox="1"/>
          <p:nvPr/>
        </p:nvSpPr>
        <p:spPr>
          <a:xfrm>
            <a:off x="7498079" y="5230368"/>
            <a:ext cx="3657600" cy="365760"/>
          </a:xfrm>
          <a:prstGeom prst="rect">
            <a:avLst/>
          </a:prstGeom>
          <a:noFill/>
        </p:spPr>
        <p:txBody>
          <a:bodyPr wrap="square">
            <a:spAutoFit/>
          </a:bodyPr>
          <a:lstStyle/>
          <a:p>
            <a:pPr algn="l">
              <a:defRPr sz="1400" b="0">
                <a:solidFill>
                  <a:srgbClr val="B0BEC5"/>
                </a:solidFill>
              </a:defRPr>
            </a:pPr>
            <a:r>
              <a:t>Large annotated corpus</a:t>
            </a:r>
          </a:p>
        </p:txBody>
      </p:sp>
      <p:sp>
        <p:nvSpPr>
          <p:cNvPr id="36" name="TextBox 35"/>
          <p:cNvSpPr txBox="1"/>
          <p:nvPr/>
        </p:nvSpPr>
        <p:spPr>
          <a:xfrm>
            <a:off x="731520" y="5943600"/>
            <a:ext cx="10058400" cy="548640"/>
          </a:xfrm>
          <a:prstGeom prst="rect">
            <a:avLst/>
          </a:prstGeom>
          <a:noFill/>
        </p:spPr>
        <p:txBody>
          <a:bodyPr wrap="square">
            <a:spAutoFit/>
          </a:bodyPr>
          <a:lstStyle/>
          <a:p>
            <a:pPr algn="ctr">
              <a:defRPr sz="1700" b="1">
                <a:solidFill>
                  <a:srgbClr val="4CAF50"/>
                </a:solidFill>
              </a:defRPr>
            </a:pPr>
            <a:r>
              <a:t>Conclusion: Hybrid approach combines the best of both — FST precision + Neural coverage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E94E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926080"/>
            <a:ext cx="2743200" cy="54864"/>
          </a:xfrm>
          <a:prstGeom prst="rect">
            <a:avLst/>
          </a:prstGeom>
          <a:solidFill>
            <a:srgbClr val="E94E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0"/>
            <a:ext cx="3657600" cy="731520"/>
          </a:xfrm>
          <a:prstGeom prst="rect">
            <a:avLst/>
          </a:prstGeom>
          <a:noFill/>
        </p:spPr>
        <p:txBody>
          <a:bodyPr wrap="square">
            <a:spAutoFit/>
          </a:bodyPr>
          <a:lstStyle/>
          <a:p>
            <a:pPr algn="l">
              <a:defRPr sz="1600" b="1">
                <a:solidFill>
                  <a:srgbClr val="E94E77"/>
                </a:solidFill>
              </a:defRPr>
            </a:pPr>
            <a:r>
              <a:t>SECTION 04</a:t>
            </a:r>
          </a:p>
        </p:txBody>
      </p:sp>
      <p:sp>
        <p:nvSpPr>
          <p:cNvPr id="5" name="TextBox 4"/>
          <p:cNvSpPr txBox="1"/>
          <p:nvPr/>
        </p:nvSpPr>
        <p:spPr>
          <a:xfrm>
            <a:off x="731520" y="3200400"/>
            <a:ext cx="10058400" cy="914400"/>
          </a:xfrm>
          <a:prstGeom prst="rect">
            <a:avLst/>
          </a:prstGeom>
          <a:noFill/>
        </p:spPr>
        <p:txBody>
          <a:bodyPr wrap="square">
            <a:spAutoFit/>
          </a:bodyPr>
          <a:lstStyle/>
          <a:p>
            <a:pPr algn="l">
              <a:defRPr sz="3600" b="1">
                <a:solidFill>
                  <a:srgbClr val="FFFFFF"/>
                </a:solidFill>
              </a:defRPr>
            </a:pPr>
            <a:r>
              <a:t>Problems Faced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058400" cy="640080"/>
          </a:xfrm>
          <a:prstGeom prst="rect">
            <a:avLst/>
          </a:prstGeom>
          <a:noFill/>
        </p:spPr>
        <p:txBody>
          <a:bodyPr wrap="square">
            <a:spAutoFit/>
          </a:bodyPr>
          <a:lstStyle/>
          <a:p>
            <a:pPr algn="l">
              <a:defRPr sz="3000" b="1">
                <a:solidFill>
                  <a:srgbClr val="53D8FB"/>
                </a:solidFill>
              </a:defRPr>
            </a:pPr>
            <a:r>
              <a:t>Technical Challenges</a:t>
            </a:r>
          </a:p>
        </p:txBody>
      </p:sp>
      <p:sp>
        <p:nvSpPr>
          <p:cNvPr id="4" name="TextBox 3"/>
          <p:cNvSpPr txBox="1"/>
          <p:nvPr/>
        </p:nvSpPr>
        <p:spPr>
          <a:xfrm>
            <a:off x="548640" y="1188720"/>
            <a:ext cx="10515600" cy="5029200"/>
          </a:xfrm>
          <a:prstGeom prst="rect">
            <a:avLst/>
          </a:prstGeom>
          <a:noFill/>
        </p:spPr>
        <p:txBody>
          <a:bodyPr wrap="square">
            <a:spAutoFit/>
          </a:bodyPr>
          <a:lstStyle/>
          <a:p>
            <a:pPr>
              <a:spcAft>
                <a:spcPts val="400"/>
              </a:spcAft>
              <a:defRPr sz="1700">
                <a:solidFill>
                  <a:srgbClr val="B0BEC5"/>
                </a:solidFill>
              </a:defRPr>
            </a:pPr>
            <a:r>
              <a:t>1. Pynini cdrewrite Rule Ordering</a:t>
            </a:r>
          </a:p>
          <a:p>
            <a:pPr>
              <a:spcAft>
                <a:spcPts val="400"/>
              </a:spcAft>
              <a:defRPr sz="1700">
                <a:solidFill>
                  <a:srgbClr val="B0BEC5"/>
                </a:solidFill>
              </a:defRPr>
            </a:pPr>
            <a:r>
              <a:t>   • Rules must be composed in correct order — wrong order causes</a:t>
            </a:r>
          </a:p>
          <a:p>
            <a:pPr>
              <a:spcAft>
                <a:spcPts val="400"/>
              </a:spcAft>
              <a:defRPr sz="1700">
                <a:solidFill>
                  <a:srgbClr val="B0BEC5"/>
                </a:solidFill>
              </a:defRPr>
            </a:pPr>
            <a:r>
              <a:t>     cascading errors (e.g., y→ie must fire before boundary deletion)</a:t>
            </a:r>
          </a:p>
          <a:p>
            <a:pPr>
              <a:spcAft>
                <a:spcPts val="400"/>
              </a:spcAft>
              <a:defRPr sz="1700">
                <a:solidFill>
                  <a:srgbClr val="B0BEC5"/>
                </a:solidFill>
              </a:defRPr>
            </a:pPr>
            <a:r>
              <a:t>   • Solution: careful cascade composition (r1 @ r2 @ r3 @ r4 @ r5)</a:t>
            </a:r>
          </a:p>
          <a:p>
            <a:pPr>
              <a:spcAft>
                <a:spcPts val="400"/>
              </a:spcAft>
              <a:defRPr sz="1700">
                <a:solidFill>
                  <a:srgbClr val="B0BEC5"/>
                </a:solidFill>
              </a:defRPr>
            </a:pPr>
          </a:p>
          <a:p>
            <a:pPr>
              <a:spcAft>
                <a:spcPts val="400"/>
              </a:spcAft>
              <a:defRPr sz="1700">
                <a:solidFill>
                  <a:srgbClr val="B0BEC5"/>
                </a:solidFill>
              </a:defRPr>
            </a:pPr>
            <a:r>
              <a:t>2. Consonant Doubling (stop → stopped)</a:t>
            </a:r>
          </a:p>
          <a:p>
            <a:pPr>
              <a:spcAft>
                <a:spcPts val="400"/>
              </a:spcAft>
              <a:defRPr sz="1700">
                <a:solidFill>
                  <a:srgbClr val="B0BEC5"/>
                </a:solidFill>
              </a:defRPr>
            </a:pPr>
            <a:r>
              <a:t>   • English doubles final consonant after short vowel + suffix</a:t>
            </a:r>
          </a:p>
          <a:p>
            <a:pPr>
              <a:spcAft>
                <a:spcPts val="400"/>
              </a:spcAft>
              <a:defRPr sz="1700">
                <a:solidFill>
                  <a:srgbClr val="B0BEC5"/>
                </a:solidFill>
              </a:defRPr>
            </a:pPr>
            <a:r>
              <a:t>   • Hard to express as a single cdrewrite rule</a:t>
            </a:r>
          </a:p>
          <a:p>
            <a:pPr>
              <a:spcAft>
                <a:spcPts val="400"/>
              </a:spcAft>
              <a:defRPr sz="1700">
                <a:solidFill>
                  <a:srgbClr val="B0BEC5"/>
                </a:solidFill>
              </a:defRPr>
            </a:pPr>
            <a:r>
              <a:t>   • Solution: handled via irregulars table for edge cases</a:t>
            </a:r>
          </a:p>
          <a:p>
            <a:pPr>
              <a:spcAft>
                <a:spcPts val="400"/>
              </a:spcAft>
              <a:defRPr sz="1700">
                <a:solidFill>
                  <a:srgbClr val="B0BEC5"/>
                </a:solidFill>
              </a:defRPr>
            </a:pPr>
          </a:p>
          <a:p>
            <a:pPr>
              <a:spcAft>
                <a:spcPts val="400"/>
              </a:spcAft>
              <a:defRPr sz="1700">
                <a:solidFill>
                  <a:srgbClr val="B0BEC5"/>
                </a:solidFill>
              </a:defRPr>
            </a:pPr>
            <a:r>
              <a:t>3. Irregular Forms</a:t>
            </a:r>
          </a:p>
          <a:p>
            <a:pPr>
              <a:spcAft>
                <a:spcPts val="400"/>
              </a:spcAft>
              <a:defRPr sz="1700">
                <a:solidFill>
                  <a:srgbClr val="B0BEC5"/>
                </a:solidFill>
              </a:defRPr>
            </a:pPr>
            <a:r>
              <a:t>   • No systematic rule for go→went, mouse→mice</a:t>
            </a:r>
          </a:p>
          <a:p>
            <a:pPr>
              <a:spcAft>
                <a:spcPts val="400"/>
              </a:spcAft>
              <a:defRPr sz="1700">
                <a:solidFill>
                  <a:srgbClr val="B0BEC5"/>
                </a:solidFill>
              </a:defRPr>
            </a:pPr>
            <a:r>
              <a:t>   • Solution: manually curated lookup table (~150 entries)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058400" cy="640080"/>
          </a:xfrm>
          <a:prstGeom prst="rect">
            <a:avLst/>
          </a:prstGeom>
          <a:noFill/>
        </p:spPr>
        <p:txBody>
          <a:bodyPr wrap="square">
            <a:spAutoFit/>
          </a:bodyPr>
          <a:lstStyle/>
          <a:p>
            <a:pPr algn="l">
              <a:defRPr sz="3000" b="1">
                <a:solidFill>
                  <a:srgbClr val="53D8FB"/>
                </a:solidFill>
              </a:defRPr>
            </a:pPr>
            <a:r>
              <a:t>Cross-lingual &amp; Data Challenges</a:t>
            </a:r>
          </a:p>
        </p:txBody>
      </p:sp>
      <p:sp>
        <p:nvSpPr>
          <p:cNvPr id="4" name="TextBox 3"/>
          <p:cNvSpPr txBox="1"/>
          <p:nvPr/>
        </p:nvSpPr>
        <p:spPr>
          <a:xfrm>
            <a:off x="548640" y="1188720"/>
            <a:ext cx="5029200" cy="5029200"/>
          </a:xfrm>
          <a:prstGeom prst="rect">
            <a:avLst/>
          </a:prstGeom>
          <a:noFill/>
        </p:spPr>
        <p:txBody>
          <a:bodyPr wrap="square">
            <a:spAutoFit/>
          </a:bodyPr>
          <a:lstStyle/>
          <a:p>
            <a:pPr>
              <a:spcAft>
                <a:spcPts val="400"/>
              </a:spcAft>
              <a:defRPr sz="1700">
                <a:solidFill>
                  <a:srgbClr val="B0BEC5"/>
                </a:solidFill>
              </a:defRPr>
            </a:pPr>
            <a:r>
              <a:t>4. Unicode Grapheme Clustering</a:t>
            </a:r>
          </a:p>
          <a:p>
            <a:pPr>
              <a:spcAft>
                <a:spcPts val="400"/>
              </a:spcAft>
              <a:defRPr sz="1700">
                <a:solidFill>
                  <a:srgbClr val="B0BEC5"/>
                </a:solidFill>
              </a:defRPr>
            </a:pPr>
            <a:r>
              <a:t>   • Bengali/Devanagari: base letter + vowel signs + virama = 1 character</a:t>
            </a:r>
          </a:p>
          <a:p>
            <a:pPr>
              <a:spcAft>
                <a:spcPts val="400"/>
              </a:spcAft>
              <a:defRPr sz="1700">
                <a:solidFill>
                  <a:srgbClr val="B0BEC5"/>
                </a:solidFill>
              </a:defRPr>
            </a:pPr>
            <a:r>
              <a:t>   • Pynini operates at codepoint level, not grapheme level</a:t>
            </a:r>
          </a:p>
          <a:p>
            <a:pPr>
              <a:spcAft>
                <a:spcPts val="400"/>
              </a:spcAft>
              <a:defRPr sz="1700">
                <a:solidFill>
                  <a:srgbClr val="B0BEC5"/>
                </a:solidFill>
              </a:defRPr>
            </a:pPr>
            <a:r>
              <a:t>   • Solution: custom grapheme_clusters() grouping function</a:t>
            </a:r>
          </a:p>
          <a:p>
            <a:pPr>
              <a:spcAft>
                <a:spcPts val="400"/>
              </a:spcAft>
              <a:defRPr sz="1700">
                <a:solidFill>
                  <a:srgbClr val="B0BEC5"/>
                </a:solidFill>
              </a:defRPr>
            </a:pPr>
          </a:p>
          <a:p>
            <a:pPr>
              <a:spcAft>
                <a:spcPts val="400"/>
              </a:spcAft>
              <a:defRPr sz="1700">
                <a:solidFill>
                  <a:srgbClr val="B0BEC5"/>
                </a:solidFill>
              </a:defRPr>
            </a:pPr>
            <a:r>
              <a:t>5. Epsilon Arc Pollution</a:t>
            </a:r>
          </a:p>
          <a:p>
            <a:pPr>
              <a:spcAft>
                <a:spcPts val="400"/>
              </a:spcAft>
              <a:defRPr sz="1700">
                <a:solidFill>
                  <a:srgbClr val="B0BEC5"/>
                </a:solidFill>
              </a:defRPr>
            </a:pPr>
            <a:r>
              <a:t>   • pynini.compose() produces many ε-transitions in output lattice</a:t>
            </a:r>
          </a:p>
          <a:p>
            <a:pPr>
              <a:spcAft>
                <a:spcPts val="400"/>
              </a:spcAft>
              <a:defRPr sz="1700">
                <a:solidFill>
                  <a:srgbClr val="B0BEC5"/>
                </a:solidFill>
              </a:defRPr>
            </a:pPr>
            <a:r>
              <a:t>   • Solution: filter arcs where ilabel == 0 in state walker</a:t>
            </a:r>
          </a:p>
          <a:p>
            <a:pPr>
              <a:spcAft>
                <a:spcPts val="400"/>
              </a:spcAft>
              <a:defRPr sz="1700">
                <a:solidFill>
                  <a:srgbClr val="B0BEC5"/>
                </a:solidFill>
              </a:defRPr>
            </a:pPr>
          </a:p>
          <a:p>
            <a:pPr>
              <a:spcAft>
                <a:spcPts val="400"/>
              </a:spcAft>
              <a:defRPr sz="1700">
                <a:solidFill>
                  <a:srgbClr val="B0BEC5"/>
                </a:solidFill>
              </a:defRPr>
            </a:pPr>
            <a:r>
              <a:t>6. Data Format Issues</a:t>
            </a:r>
          </a:p>
          <a:p>
            <a:pPr>
              <a:spcAft>
                <a:spcPts val="400"/>
              </a:spcAft>
              <a:defRPr sz="1700">
                <a:solidFill>
                  <a:srgbClr val="B0BEC5"/>
                </a:solidFill>
              </a:defRPr>
            </a:pPr>
            <a:r>
              <a:t>   • UniMorph format (lemma TAB form TAB features) parsing edge cases</a:t>
            </a:r>
          </a:p>
          <a:p>
            <a:pPr>
              <a:spcAft>
                <a:spcPts val="400"/>
              </a:spcAft>
              <a:defRPr sz="1700">
                <a:solidFill>
                  <a:srgbClr val="B0BEC5"/>
                </a:solidFill>
              </a:defRPr>
            </a:pPr>
            <a:r>
              <a:t>   • Bengali CoNLL-U had inconsistent transliterations</a:t>
            </a:r>
          </a:p>
          <a:p>
            <a:pPr>
              <a:spcAft>
                <a:spcPts val="400"/>
              </a:spcAft>
              <a:defRPr sz="1700">
                <a:solidFill>
                  <a:srgbClr val="B0BEC5"/>
                </a:solidFill>
              </a:defRPr>
            </a:pPr>
            <a:r>
              <a:t>   • Solution: robust parser with fallback heuristics</a:t>
            </a:r>
          </a:p>
        </p:txBody>
      </p:sp>
      <p:sp>
        <p:nvSpPr>
          <p:cNvPr id="5" name="TextBox 4"/>
          <p:cNvSpPr txBox="1"/>
          <p:nvPr/>
        </p:nvSpPr>
        <p:spPr>
          <a:xfrm>
            <a:off x="6217920" y="1188720"/>
            <a:ext cx="5029200" cy="5029200"/>
          </a:xfrm>
          <a:prstGeom prst="rect">
            <a:avLst/>
          </a:prstGeom>
          <a:noFill/>
        </p:spPr>
        <p:txBody>
          <a:bodyPr wrap="square">
            <a:spAutoFit/>
          </a:bodyPr>
          <a:lstStyle/>
          <a:p>
            <a:pPr>
              <a:spcAft>
                <a:spcPts val="400"/>
              </a:spcAft>
              <a:defRPr sz="1700">
                <a:solidFill>
                  <a:srgbClr val="B0BEC5"/>
                </a:solidFill>
              </a:defRPr>
            </a:pPr>
            <a:r>
              <a:t>7. Neural Network Challenges</a:t>
            </a:r>
          </a:p>
          <a:p>
            <a:pPr>
              <a:spcAft>
                <a:spcPts val="400"/>
              </a:spcAft>
              <a:defRPr sz="1700">
                <a:solidFill>
                  <a:srgbClr val="B0BEC5"/>
                </a:solidFill>
              </a:defRPr>
            </a:pPr>
            <a:r>
              <a:t>   • Data imbalance: common tags (N;PL) vs rare tags (V;SBJV;PST)</a:t>
            </a:r>
          </a:p>
          <a:p>
            <a:pPr>
              <a:spcAft>
                <a:spcPts val="400"/>
              </a:spcAft>
              <a:defRPr sz="1700">
                <a:solidFill>
                  <a:srgbClr val="B0BEC5"/>
                </a:solidFill>
              </a:defRPr>
            </a:pPr>
            <a:r>
              <a:t>   • Character vocabulary mismatch across languages</a:t>
            </a:r>
          </a:p>
          <a:p>
            <a:pPr>
              <a:spcAft>
                <a:spcPts val="400"/>
              </a:spcAft>
              <a:defRPr sz="1700">
                <a:solidFill>
                  <a:srgbClr val="B0BEC5"/>
                </a:solidFill>
              </a:defRPr>
            </a:pPr>
            <a:r>
              <a:t>   • Overfitting on small Bengali dataset</a:t>
            </a:r>
          </a:p>
          <a:p>
            <a:pPr>
              <a:spcAft>
                <a:spcPts val="400"/>
              </a:spcAft>
              <a:defRPr sz="1700">
                <a:solidFill>
                  <a:srgbClr val="B0BEC5"/>
                </a:solidFill>
              </a:defRPr>
            </a:pPr>
            <a:r>
              <a:t>   • Solution: label smoothing, dropout, early stopping</a:t>
            </a:r>
          </a:p>
          <a:p>
            <a:pPr>
              <a:spcAft>
                <a:spcPts val="400"/>
              </a:spcAft>
              <a:defRPr sz="1700">
                <a:solidFill>
                  <a:srgbClr val="B0BEC5"/>
                </a:solidFill>
              </a:defRPr>
            </a:pPr>
          </a:p>
          <a:p>
            <a:pPr>
              <a:spcAft>
                <a:spcPts val="400"/>
              </a:spcAft>
              <a:defRPr sz="1700">
                <a:solidFill>
                  <a:srgbClr val="B0BEC5"/>
                </a:solidFill>
              </a:defRPr>
            </a:pPr>
            <a:r>
              <a:t>8. Environment Constraints</a:t>
            </a:r>
          </a:p>
          <a:p>
            <a:pPr>
              <a:spcAft>
                <a:spcPts val="400"/>
              </a:spcAft>
              <a:defRPr sz="1700">
                <a:solidFill>
                  <a:srgbClr val="B0BEC5"/>
                </a:solidFill>
              </a:defRPr>
            </a:pPr>
            <a:r>
              <a:t>   • Pynini only works on Linux — required WSL setup</a:t>
            </a:r>
          </a:p>
          <a:p>
            <a:pPr>
              <a:spcAft>
                <a:spcPts val="400"/>
              </a:spcAft>
              <a:defRPr sz="1700">
                <a:solidFill>
                  <a:srgbClr val="B0BEC5"/>
                </a:solidFill>
              </a:defRPr>
            </a:pPr>
            <a:r>
              <a:t>   • Virtual environment management across Windows/WSL</a:t>
            </a:r>
          </a:p>
          <a:p>
            <a:pPr>
              <a:spcAft>
                <a:spcPts val="400"/>
              </a:spcAft>
              <a:defRPr sz="1700">
                <a:solidFill>
                  <a:srgbClr val="B0BEC5"/>
                </a:solidFill>
              </a:defRPr>
            </a:pPr>
            <a:r>
              <a:t>   • Solution: documented WSL workflow in README</a:t>
            </a:r>
          </a:p>
          <a:p>
            <a:pPr>
              <a:spcAft>
                <a:spcPts val="400"/>
              </a:spcAft>
              <a:defRPr sz="1700">
                <a:solidFill>
                  <a:srgbClr val="B0BEC5"/>
                </a:solidFill>
              </a:defRPr>
            </a:pPr>
          </a:p>
          <a:p>
            <a:pPr>
              <a:spcAft>
                <a:spcPts val="400"/>
              </a:spcAft>
              <a:defRPr sz="1700">
                <a:solidFill>
                  <a:srgbClr val="B0BEC5"/>
                </a:solidFill>
              </a:defRPr>
            </a:pPr>
            <a:r>
              <a:t>9. Website Integration</a:t>
            </a:r>
          </a:p>
          <a:p>
            <a:pPr>
              <a:spcAft>
                <a:spcPts val="400"/>
              </a:spcAft>
              <a:defRPr sz="1700">
                <a:solidFill>
                  <a:srgbClr val="B0BEC5"/>
                </a:solidFill>
              </a:defRPr>
            </a:pPr>
            <a:r>
              <a:t>   • Connecting FST backend to web frontend</a:t>
            </a:r>
          </a:p>
          <a:p>
            <a:pPr>
              <a:spcAft>
                <a:spcPts val="400"/>
              </a:spcAft>
              <a:defRPr sz="1700">
                <a:solidFill>
                  <a:srgbClr val="B0BEC5"/>
                </a:solidFill>
              </a:defRPr>
            </a:pPr>
            <a:r>
              <a:t>   • Real-time state traversal rendering</a:t>
            </a:r>
          </a:p>
          <a:p>
            <a:pPr>
              <a:spcAft>
                <a:spcPts val="400"/>
              </a:spcAft>
              <a:defRPr sz="1700">
                <a:solidFill>
                  <a:srgbClr val="B0BEC5"/>
                </a:solidFill>
              </a:defRPr>
            </a:pPr>
            <a:r>
              <a:t>   • Solution: REST API with JSON state paths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E94E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926080"/>
            <a:ext cx="2743200" cy="54864"/>
          </a:xfrm>
          <a:prstGeom prst="rect">
            <a:avLst/>
          </a:prstGeom>
          <a:solidFill>
            <a:srgbClr val="E94E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0"/>
            <a:ext cx="3657600" cy="731520"/>
          </a:xfrm>
          <a:prstGeom prst="rect">
            <a:avLst/>
          </a:prstGeom>
          <a:noFill/>
        </p:spPr>
        <p:txBody>
          <a:bodyPr wrap="square">
            <a:spAutoFit/>
          </a:bodyPr>
          <a:lstStyle/>
          <a:p>
            <a:pPr algn="l">
              <a:defRPr sz="1600" b="1">
                <a:solidFill>
                  <a:srgbClr val="E94E77"/>
                </a:solidFill>
              </a:defRPr>
            </a:pPr>
            <a:r>
              <a:t>SECTION 05</a:t>
            </a:r>
          </a:p>
        </p:txBody>
      </p:sp>
      <p:sp>
        <p:nvSpPr>
          <p:cNvPr id="5" name="TextBox 4"/>
          <p:cNvSpPr txBox="1"/>
          <p:nvPr/>
        </p:nvSpPr>
        <p:spPr>
          <a:xfrm>
            <a:off x="731520" y="3200400"/>
            <a:ext cx="10058400" cy="914400"/>
          </a:xfrm>
          <a:prstGeom prst="rect">
            <a:avLst/>
          </a:prstGeom>
          <a:noFill/>
        </p:spPr>
        <p:txBody>
          <a:bodyPr wrap="square">
            <a:spAutoFit/>
          </a:bodyPr>
          <a:lstStyle/>
          <a:p>
            <a:pPr algn="l">
              <a:defRPr sz="3600" b="1">
                <a:solidFill>
                  <a:srgbClr val="FFFFFF"/>
                </a:solidFill>
              </a:defRPr>
            </a:pPr>
            <a:r>
              <a:t>Individual Contributions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058400" cy="640080"/>
          </a:xfrm>
          <a:prstGeom prst="rect">
            <a:avLst/>
          </a:prstGeom>
          <a:noFill/>
        </p:spPr>
        <p:txBody>
          <a:bodyPr wrap="square">
            <a:spAutoFit/>
          </a:bodyPr>
          <a:lstStyle/>
          <a:p>
            <a:pPr algn="l">
              <a:defRPr sz="3000" b="1">
                <a:solidFill>
                  <a:srgbClr val="53D8FB"/>
                </a:solidFill>
              </a:defRPr>
            </a:pPr>
            <a:r>
              <a:t>Individual Contributions</a:t>
            </a:r>
          </a:p>
        </p:txBody>
      </p:sp>
      <p:sp>
        <p:nvSpPr>
          <p:cNvPr id="4" name="Rectangle 3"/>
          <p:cNvSpPr/>
          <p:nvPr/>
        </p:nvSpPr>
        <p:spPr>
          <a:xfrm>
            <a:off x="548640" y="1097280"/>
            <a:ext cx="5029200" cy="5029200"/>
          </a:xfrm>
          <a:prstGeom prst="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97280"/>
            <a:ext cx="5029200" cy="45720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143000"/>
            <a:ext cx="4572000" cy="365760"/>
          </a:xfrm>
          <a:prstGeom prst="rect">
            <a:avLst/>
          </a:prstGeom>
          <a:noFill/>
        </p:spPr>
        <p:txBody>
          <a:bodyPr wrap="square">
            <a:spAutoFit/>
          </a:bodyPr>
          <a:lstStyle/>
          <a:p>
            <a:pPr algn="ctr">
              <a:defRPr sz="1800" b="1">
                <a:solidFill>
                  <a:srgbClr val="FFFFFF"/>
                </a:solidFill>
              </a:defRPr>
            </a:pPr>
            <a:r>
              <a:t>Rushil Sharma</a:t>
            </a:r>
          </a:p>
        </p:txBody>
      </p:sp>
      <p:sp>
        <p:nvSpPr>
          <p:cNvPr id="7" name="TextBox 6"/>
          <p:cNvSpPr txBox="1"/>
          <p:nvPr/>
        </p:nvSpPr>
        <p:spPr>
          <a:xfrm>
            <a:off x="731520" y="1737360"/>
            <a:ext cx="4572000" cy="4114800"/>
          </a:xfrm>
          <a:prstGeom prst="rect">
            <a:avLst/>
          </a:prstGeom>
          <a:noFill/>
        </p:spPr>
        <p:txBody>
          <a:bodyPr wrap="square">
            <a:spAutoFit/>
          </a:bodyPr>
          <a:lstStyle/>
          <a:p>
            <a:pPr>
              <a:spcAft>
                <a:spcPts val="400"/>
              </a:spcAft>
              <a:defRPr sz="1400">
                <a:solidFill>
                  <a:srgbClr val="B0BEC5"/>
                </a:solidFill>
              </a:defRPr>
            </a:pPr>
            <a:r>
              <a:t>English FST Core:</a:t>
            </a:r>
          </a:p>
          <a:p>
            <a:pPr>
              <a:spcAft>
                <a:spcPts val="400"/>
              </a:spcAft>
              <a:defRPr sz="1400">
                <a:solidFill>
                  <a:srgbClr val="B0BEC5"/>
                </a:solidFill>
              </a:defRPr>
            </a:pPr>
            <a:r>
              <a:t>  • lexicon.py — stem dictionary (750+ stems)</a:t>
            </a:r>
          </a:p>
          <a:p>
            <a:pPr>
              <a:spcAft>
                <a:spcPts val="400"/>
              </a:spcAft>
              <a:defRPr sz="1400">
                <a:solidFill>
                  <a:srgbClr val="B0BEC5"/>
                </a:solidFill>
              </a:defRPr>
            </a:pPr>
            <a:r>
              <a:t>  • morphotactics.py — noun/verb/adj inflection</a:t>
            </a:r>
          </a:p>
          <a:p>
            <a:pPr>
              <a:spcAft>
                <a:spcPts val="400"/>
              </a:spcAft>
              <a:defRPr sz="1400">
                <a:solidFill>
                  <a:srgbClr val="B0BEC5"/>
                </a:solidFill>
              </a:defRPr>
            </a:pPr>
            <a:r>
              <a:t>  • spelling_rules.py — 5 cdrewrite rules</a:t>
            </a:r>
          </a:p>
          <a:p>
            <a:pPr>
              <a:spcAft>
                <a:spcPts val="400"/>
              </a:spcAft>
              <a:defRPr sz="1400">
                <a:solidFill>
                  <a:srgbClr val="B0BEC5"/>
                </a:solidFill>
              </a:defRPr>
            </a:pPr>
            <a:r>
              <a:t>  • irregulars.py — 150 irregular forms</a:t>
            </a:r>
          </a:p>
          <a:p>
            <a:pPr>
              <a:spcAft>
                <a:spcPts val="400"/>
              </a:spcAft>
              <a:defRPr sz="1400">
                <a:solidFill>
                  <a:srgbClr val="B0BEC5"/>
                </a:solidFill>
              </a:defRPr>
            </a:pPr>
          </a:p>
          <a:p>
            <a:pPr>
              <a:spcAft>
                <a:spcPts val="400"/>
              </a:spcAft>
              <a:defRPr sz="1400">
                <a:solidFill>
                  <a:srgbClr val="B0BEC5"/>
                </a:solidFill>
              </a:defRPr>
            </a:pPr>
            <a:r>
              <a:t>Hindi FST Extension:</a:t>
            </a:r>
          </a:p>
          <a:p>
            <a:pPr>
              <a:spcAft>
                <a:spcPts val="400"/>
              </a:spcAft>
              <a:defRPr sz="1400">
                <a:solidFill>
                  <a:srgbClr val="B0BEC5"/>
                </a:solidFill>
              </a:defRPr>
            </a:pPr>
            <a:r>
              <a:t>  • 2,011 word vocabulary in Devanagari</a:t>
            </a:r>
          </a:p>
          <a:p>
            <a:pPr>
              <a:spcAft>
                <a:spcPts val="400"/>
              </a:spcAft>
              <a:defRPr sz="1400">
                <a:solidFill>
                  <a:srgbClr val="B0BEC5"/>
                </a:solidFill>
              </a:defRPr>
            </a:pPr>
            <a:r>
              <a:t>  • Heuristic suffix rules for OOV words</a:t>
            </a:r>
          </a:p>
          <a:p>
            <a:pPr>
              <a:spcAft>
                <a:spcPts val="400"/>
              </a:spcAft>
              <a:defRPr sz="1400">
                <a:solidFill>
                  <a:srgbClr val="B0BEC5"/>
                </a:solidFill>
              </a:defRPr>
            </a:pPr>
            <a:r>
              <a:t>  • CoNLL-U evaluation pipeline</a:t>
            </a:r>
          </a:p>
          <a:p>
            <a:pPr>
              <a:spcAft>
                <a:spcPts val="400"/>
              </a:spcAft>
              <a:defRPr sz="1400">
                <a:solidFill>
                  <a:srgbClr val="B0BEC5"/>
                </a:solidFill>
              </a:defRPr>
            </a:pPr>
          </a:p>
          <a:p>
            <a:pPr>
              <a:spcAft>
                <a:spcPts val="400"/>
              </a:spcAft>
              <a:defRPr sz="1400">
                <a:solidFill>
                  <a:srgbClr val="B0BEC5"/>
                </a:solidFill>
              </a:defRPr>
            </a:pPr>
            <a:r>
              <a:t>Other:</a:t>
            </a:r>
          </a:p>
          <a:p>
            <a:pPr>
              <a:spcAft>
                <a:spcPts val="400"/>
              </a:spcAft>
              <a:defRPr sz="1400">
                <a:solidFill>
                  <a:srgbClr val="B0BEC5"/>
                </a:solidFill>
              </a:defRPr>
            </a:pPr>
            <a:r>
              <a:t>  • evaluate.py — accuracy/coverage metrics</a:t>
            </a:r>
          </a:p>
          <a:p>
            <a:pPr>
              <a:spcAft>
                <a:spcPts val="400"/>
              </a:spcAft>
              <a:defRPr sz="1400">
                <a:solidFill>
                  <a:srgbClr val="B0BEC5"/>
                </a:solidFill>
              </a:defRPr>
            </a:pPr>
            <a:r>
              <a:t>  • Website UI refinements</a:t>
            </a:r>
          </a:p>
        </p:txBody>
      </p:sp>
      <p:sp>
        <p:nvSpPr>
          <p:cNvPr id="8" name="Rectangle 7"/>
          <p:cNvSpPr/>
          <p:nvPr/>
        </p:nvSpPr>
        <p:spPr>
          <a:xfrm>
            <a:off x="6400800" y="1097280"/>
            <a:ext cx="5029200" cy="5029200"/>
          </a:xfrm>
          <a:prstGeom prst="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0" y="1097280"/>
            <a:ext cx="5029200" cy="457200"/>
          </a:xfrm>
          <a:prstGeom prst="rect">
            <a:avLst/>
          </a:prstGeom>
          <a:solidFill>
            <a:srgbClr val="E94E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1143000"/>
            <a:ext cx="4572000" cy="365760"/>
          </a:xfrm>
          <a:prstGeom prst="rect">
            <a:avLst/>
          </a:prstGeom>
          <a:noFill/>
        </p:spPr>
        <p:txBody>
          <a:bodyPr wrap="square">
            <a:spAutoFit/>
          </a:bodyPr>
          <a:lstStyle/>
          <a:p>
            <a:pPr algn="ctr">
              <a:defRPr sz="1800" b="1">
                <a:solidFill>
                  <a:srgbClr val="FFFFFF"/>
                </a:solidFill>
              </a:defRPr>
            </a:pPr>
            <a:r>
              <a:t>Avik Majumder</a:t>
            </a:r>
          </a:p>
        </p:txBody>
      </p:sp>
      <p:sp>
        <p:nvSpPr>
          <p:cNvPr id="11" name="TextBox 10"/>
          <p:cNvSpPr txBox="1"/>
          <p:nvPr/>
        </p:nvSpPr>
        <p:spPr>
          <a:xfrm>
            <a:off x="6583680" y="1737360"/>
            <a:ext cx="4572000" cy="4114800"/>
          </a:xfrm>
          <a:prstGeom prst="rect">
            <a:avLst/>
          </a:prstGeom>
          <a:noFill/>
        </p:spPr>
        <p:txBody>
          <a:bodyPr wrap="square">
            <a:spAutoFit/>
          </a:bodyPr>
          <a:lstStyle/>
          <a:p>
            <a:pPr>
              <a:spcAft>
                <a:spcPts val="400"/>
              </a:spcAft>
              <a:defRPr sz="1400">
                <a:solidFill>
                  <a:srgbClr val="B0BEC5"/>
                </a:solidFill>
              </a:defRPr>
            </a:pPr>
            <a:r>
              <a:t>Neural Network System:</a:t>
            </a:r>
          </a:p>
          <a:p>
            <a:pPr>
              <a:spcAft>
                <a:spcPts val="400"/>
              </a:spcAft>
              <a:defRPr sz="1400">
                <a:solidFill>
                  <a:srgbClr val="B0BEC5"/>
                </a:solidFill>
              </a:defRPr>
            </a:pPr>
            <a:r>
              <a:t>  • Char-level Transformer encoder-decoder</a:t>
            </a:r>
          </a:p>
          <a:p>
            <a:pPr>
              <a:spcAft>
                <a:spcPts val="400"/>
              </a:spcAft>
              <a:defRPr sz="1400">
                <a:solidFill>
                  <a:srgbClr val="B0BEC5"/>
                </a:solidFill>
              </a:defRPr>
            </a:pPr>
            <a:r>
              <a:t>  • Training pipeline (AdamW, early stopping)</a:t>
            </a:r>
          </a:p>
          <a:p>
            <a:pPr>
              <a:spcAft>
                <a:spcPts val="400"/>
              </a:spcAft>
              <a:defRPr sz="1400">
                <a:solidFill>
                  <a:srgbClr val="B0BEC5"/>
                </a:solidFill>
              </a:defRPr>
            </a:pPr>
            <a:r>
              <a:t>  • Hybrid integration (FST + Neural fallback)</a:t>
            </a:r>
          </a:p>
          <a:p>
            <a:pPr>
              <a:spcAft>
                <a:spcPts val="400"/>
              </a:spcAft>
              <a:defRPr sz="1400">
                <a:solidFill>
                  <a:srgbClr val="B0BEC5"/>
                </a:solidFill>
              </a:defRPr>
            </a:pPr>
            <a:r>
              <a:t>  • 74.3% accuracy on hybrid system</a:t>
            </a:r>
          </a:p>
          <a:p>
            <a:pPr>
              <a:spcAft>
                <a:spcPts val="400"/>
              </a:spcAft>
              <a:defRPr sz="1400">
                <a:solidFill>
                  <a:srgbClr val="B0BEC5"/>
                </a:solidFill>
              </a:defRPr>
            </a:pPr>
          </a:p>
          <a:p>
            <a:pPr>
              <a:spcAft>
                <a:spcPts val="400"/>
              </a:spcAft>
              <a:defRPr sz="1400">
                <a:solidFill>
                  <a:srgbClr val="B0BEC5"/>
                </a:solidFill>
              </a:defRPr>
            </a:pPr>
            <a:r>
              <a:t>Bengali FST Analyzer:</a:t>
            </a:r>
          </a:p>
          <a:p>
            <a:pPr>
              <a:spcAft>
                <a:spcPts val="400"/>
              </a:spcAft>
              <a:defRPr sz="1400">
                <a:solidFill>
                  <a:srgbClr val="B0BEC5"/>
                </a:solidFill>
              </a:defRPr>
            </a:pPr>
            <a:r>
              <a:t>  • 320 tokens, 55 sentences lexicon</a:t>
            </a:r>
          </a:p>
          <a:p>
            <a:pPr>
              <a:spcAft>
                <a:spcPts val="400"/>
              </a:spcAft>
              <a:defRPr sz="1400">
                <a:solidFill>
                  <a:srgbClr val="B0BEC5"/>
                </a:solidFill>
              </a:defRPr>
            </a:pPr>
            <a:r>
              <a:t>  • Bengali grapheme cluster splitting</a:t>
            </a:r>
          </a:p>
          <a:p>
            <a:pPr>
              <a:spcAft>
                <a:spcPts val="400"/>
              </a:spcAft>
              <a:defRPr sz="1400">
                <a:solidFill>
                  <a:srgbClr val="B0BEC5"/>
                </a:solidFill>
              </a:defRPr>
            </a:pPr>
            <a:r>
              <a:t>  • State traversal visualization</a:t>
            </a:r>
          </a:p>
          <a:p>
            <a:pPr>
              <a:spcAft>
                <a:spcPts val="400"/>
              </a:spcAft>
              <a:defRPr sz="1400">
                <a:solidFill>
                  <a:srgbClr val="B0BEC5"/>
                </a:solidFill>
              </a:defRPr>
            </a:pPr>
          </a:p>
          <a:p>
            <a:pPr>
              <a:spcAft>
                <a:spcPts val="400"/>
              </a:spcAft>
              <a:defRPr sz="1400">
                <a:solidFill>
                  <a:srgbClr val="B0BEC5"/>
                </a:solidFill>
              </a:defRPr>
            </a:pPr>
            <a:r>
              <a:t>Website:</a:t>
            </a:r>
          </a:p>
          <a:p>
            <a:pPr>
              <a:spcAft>
                <a:spcPts val="400"/>
              </a:spcAft>
              <a:defRPr sz="1400">
                <a:solidFill>
                  <a:srgbClr val="B0BEC5"/>
                </a:solidFill>
              </a:defRPr>
            </a:pPr>
            <a:r>
              <a:t>  • Main interface design &amp; implementation</a:t>
            </a:r>
          </a:p>
          <a:p>
            <a:pPr>
              <a:spcAft>
                <a:spcPts val="400"/>
              </a:spcAft>
              <a:defRPr sz="1400">
                <a:solidFill>
                  <a:srgbClr val="B0BEC5"/>
                </a:solidFill>
              </a:defRPr>
            </a:pPr>
            <a:r>
              <a:t>  • Graph/chart visualizations</a:t>
            </a:r>
          </a:p>
          <a:p>
            <a:pPr>
              <a:spcAft>
                <a:spcPts val="400"/>
              </a:spcAft>
              <a:defRPr sz="1400">
                <a:solidFill>
                  <a:srgbClr val="B0BEC5"/>
                </a:solidFill>
              </a:defRPr>
            </a:pPr>
            <a:r>
              <a:t>  • Backend API integration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058400" cy="640080"/>
          </a:xfrm>
          <a:prstGeom prst="rect">
            <a:avLst/>
          </a:prstGeom>
          <a:noFill/>
        </p:spPr>
        <p:txBody>
          <a:bodyPr wrap="square">
            <a:spAutoFit/>
          </a:bodyPr>
          <a:lstStyle/>
          <a:p>
            <a:pPr algn="l">
              <a:defRPr sz="3000" b="1">
                <a:solidFill>
                  <a:srgbClr val="53D8FB"/>
                </a:solidFill>
              </a:defRPr>
            </a:pPr>
            <a:r>
              <a:t>Shared Work &amp; Integration</a:t>
            </a:r>
          </a:p>
        </p:txBody>
      </p:sp>
      <p:sp>
        <p:nvSpPr>
          <p:cNvPr id="4" name="TextBox 3"/>
          <p:cNvSpPr txBox="1"/>
          <p:nvPr/>
        </p:nvSpPr>
        <p:spPr>
          <a:xfrm>
            <a:off x="548640" y="1188720"/>
            <a:ext cx="10515600" cy="5029200"/>
          </a:xfrm>
          <a:prstGeom prst="rect">
            <a:avLst/>
          </a:prstGeom>
          <a:noFill/>
        </p:spPr>
        <p:txBody>
          <a:bodyPr wrap="square">
            <a:spAutoFit/>
          </a:bodyPr>
          <a:lstStyle/>
          <a:p>
            <a:pPr>
              <a:spcAft>
                <a:spcPts val="400"/>
              </a:spcAft>
              <a:defRPr sz="1700">
                <a:solidFill>
                  <a:srgbClr val="B0BEC5"/>
                </a:solidFill>
              </a:defRPr>
            </a:pPr>
            <a:r>
              <a:t>Joint Development:</a:t>
            </a:r>
          </a:p>
          <a:p>
            <a:pPr>
              <a:spcAft>
                <a:spcPts val="400"/>
              </a:spcAft>
              <a:defRPr sz="1700">
                <a:solidFill>
                  <a:srgbClr val="B0BEC5"/>
                </a:solidFill>
              </a:defRPr>
            </a:pPr>
            <a:r>
              <a:t>  • main.py — CLI entry point for all analyzers</a:t>
            </a:r>
          </a:p>
          <a:p>
            <a:pPr>
              <a:spcAft>
                <a:spcPts val="400"/>
              </a:spcAft>
              <a:defRPr sz="1700">
                <a:solidFill>
                  <a:srgbClr val="B0BEC5"/>
                </a:solidFill>
              </a:defRPr>
            </a:pPr>
            <a:r>
              <a:t>  • analyzer.py — unified analysis wrapper</a:t>
            </a:r>
          </a:p>
          <a:p>
            <a:pPr>
              <a:spcAft>
                <a:spcPts val="400"/>
              </a:spcAft>
              <a:defRPr sz="1700">
                <a:solidFill>
                  <a:srgbClr val="B0BEC5"/>
                </a:solidFill>
              </a:defRPr>
            </a:pPr>
            <a:r>
              <a:t>  • data_loader.py — UniMorph/CoNLL-U parser</a:t>
            </a:r>
          </a:p>
          <a:p>
            <a:pPr>
              <a:spcAft>
                <a:spcPts val="400"/>
              </a:spcAft>
              <a:defRPr sz="1700">
                <a:solidFill>
                  <a:srgbClr val="B0BEC5"/>
                </a:solidFill>
              </a:defRPr>
            </a:pPr>
            <a:r>
              <a:t>  • test.py — evaluation test suites</a:t>
            </a:r>
          </a:p>
          <a:p>
            <a:pPr>
              <a:spcAft>
                <a:spcPts val="400"/>
              </a:spcAft>
              <a:defRPr sz="1700">
                <a:solidFill>
                  <a:srgbClr val="B0BEC5"/>
                </a:solidFill>
              </a:defRPr>
            </a:pPr>
          </a:p>
          <a:p>
            <a:pPr>
              <a:spcAft>
                <a:spcPts val="400"/>
              </a:spcAft>
              <a:defRPr sz="1700">
                <a:solidFill>
                  <a:srgbClr val="B0BEC5"/>
                </a:solidFill>
              </a:defRPr>
            </a:pPr>
            <a:r>
              <a:t>Integration Testing:</a:t>
            </a:r>
          </a:p>
          <a:p>
            <a:pPr>
              <a:spcAft>
                <a:spcPts val="400"/>
              </a:spcAft>
              <a:defRPr sz="1700">
                <a:solidFill>
                  <a:srgbClr val="B0BEC5"/>
                </a:solidFill>
              </a:defRPr>
            </a:pPr>
            <a:r>
              <a:t>  • Cross-validated FST and Neural outputs</a:t>
            </a:r>
          </a:p>
          <a:p>
            <a:pPr>
              <a:spcAft>
                <a:spcPts val="400"/>
              </a:spcAft>
              <a:defRPr sz="1700">
                <a:solidFill>
                  <a:srgbClr val="B0BEC5"/>
                </a:solidFill>
              </a:defRPr>
            </a:pPr>
            <a:r>
              <a:t>  • Ensured consistent CoNLL-U format across languages</a:t>
            </a:r>
          </a:p>
          <a:p>
            <a:pPr>
              <a:spcAft>
                <a:spcPts val="400"/>
              </a:spcAft>
              <a:defRPr sz="1700">
                <a:solidFill>
                  <a:srgbClr val="B0BEC5"/>
                </a:solidFill>
              </a:defRPr>
            </a:pPr>
            <a:r>
              <a:t>  • GitHub-based collaboration (avikmjd2/fst)</a:t>
            </a:r>
          </a:p>
          <a:p>
            <a:pPr>
              <a:spcAft>
                <a:spcPts val="400"/>
              </a:spcAft>
              <a:defRPr sz="1700">
                <a:solidFill>
                  <a:srgbClr val="B0BEC5"/>
                </a:solidFill>
              </a:defRPr>
            </a:pPr>
          </a:p>
          <a:p>
            <a:pPr>
              <a:spcAft>
                <a:spcPts val="400"/>
              </a:spcAft>
              <a:defRPr sz="1700">
                <a:solidFill>
                  <a:srgbClr val="B0BEC5"/>
                </a:solidFill>
              </a:defRPr>
            </a:pPr>
            <a:r>
              <a:t>Project Repository Structure:</a:t>
            </a:r>
          </a:p>
          <a:p>
            <a:pPr>
              <a:spcAft>
                <a:spcPts val="400"/>
              </a:spcAft>
              <a:defRPr sz="1700">
                <a:solidFill>
                  <a:srgbClr val="B0BEC5"/>
                </a:solidFill>
              </a:defRPr>
            </a:pPr>
            <a:r>
              <a:t>  fst/        — English FST (rule-based, pynini)</a:t>
            </a:r>
          </a:p>
          <a:p>
            <a:pPr>
              <a:spcAft>
                <a:spcPts val="400"/>
              </a:spcAft>
              <a:defRPr sz="1700">
                <a:solidFill>
                  <a:srgbClr val="B0BEC5"/>
                </a:solidFill>
              </a:defRPr>
            </a:pPr>
            <a:r>
              <a:t>  fsl/        — English FSL + Neural hybrid</a:t>
            </a:r>
          </a:p>
          <a:p>
            <a:pPr>
              <a:spcAft>
                <a:spcPts val="400"/>
              </a:spcAft>
              <a:defRPr sz="1700">
                <a:solidFill>
                  <a:srgbClr val="B0BEC5"/>
                </a:solidFill>
              </a:defRPr>
            </a:pPr>
            <a:r>
              <a:t>  hindi_fst/  — Hindi FST (Devanagari)</a:t>
            </a:r>
          </a:p>
          <a:p>
            <a:pPr>
              <a:spcAft>
                <a:spcPts val="400"/>
              </a:spcAft>
              <a:defRPr sz="1700">
                <a:solidFill>
                  <a:srgbClr val="B0BEC5"/>
                </a:solidFill>
              </a:defRPr>
            </a:pPr>
            <a:r>
              <a:t>  bengali_fst/— Bengali FST (বাংলা)</a:t>
            </a:r>
          </a:p>
          <a:p>
            <a:pPr>
              <a:spcAft>
                <a:spcPts val="400"/>
              </a:spcAft>
              <a:defRPr sz="1700">
                <a:solidFill>
                  <a:srgbClr val="B0BEC5"/>
                </a:solidFill>
              </a:defRPr>
            </a:pPr>
            <a:r>
              <a:t>  website/    — Web interface (frontend + backend)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058400" cy="640080"/>
          </a:xfrm>
          <a:prstGeom prst="rect">
            <a:avLst/>
          </a:prstGeom>
          <a:noFill/>
        </p:spPr>
        <p:txBody>
          <a:bodyPr wrap="square">
            <a:spAutoFit/>
          </a:bodyPr>
          <a:lstStyle/>
          <a:p>
            <a:pPr algn="l">
              <a:defRPr sz="3000" b="1">
                <a:solidFill>
                  <a:srgbClr val="53D8FB"/>
                </a:solidFill>
              </a:defRPr>
            </a:pPr>
            <a:r>
              <a:t>Key Code: Spelling Rules (cdrewrite)</a:t>
            </a:r>
          </a:p>
        </p:txBody>
      </p:sp>
      <p:sp>
        <p:nvSpPr>
          <p:cNvPr id="4" name="Rectangle 3"/>
          <p:cNvSpPr/>
          <p:nvPr/>
        </p:nvSpPr>
        <p:spPr>
          <a:xfrm>
            <a:off x="548640" y="1097280"/>
            <a:ext cx="10515600" cy="5029200"/>
          </a:xfrm>
          <a:prstGeom prst="rect">
            <a:avLst/>
          </a:prstGeom>
          <a:solidFill>
            <a:srgbClr val="0A0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80160"/>
            <a:ext cx="10058400" cy="4754880"/>
          </a:xfrm>
          <a:prstGeom prst="rect">
            <a:avLst/>
          </a:prstGeom>
          <a:noFill/>
        </p:spPr>
        <p:txBody>
          <a:bodyPr wrap="square">
            <a:spAutoFit/>
          </a:bodyPr>
          <a:lstStyle/>
          <a:p>
            <a:pPr>
              <a:spcAft>
                <a:spcPts val="400"/>
              </a:spcAft>
              <a:defRPr sz="1300">
                <a:solidFill>
                  <a:srgbClr val="53D8FB"/>
                </a:solidFill>
              </a:defRPr>
            </a:pPr>
            <a:r>
              <a:t># spelling_rules.py — Context-dependent rewrite rules</a:t>
            </a:r>
          </a:p>
          <a:p>
            <a:pPr>
              <a:spcAft>
                <a:spcPts val="400"/>
              </a:spcAft>
              <a:defRPr sz="1300">
                <a:solidFill>
                  <a:srgbClr val="53D8FB"/>
                </a:solidFill>
              </a:defRPr>
            </a:pPr>
          </a:p>
          <a:p>
            <a:pPr>
              <a:spcAft>
                <a:spcPts val="400"/>
              </a:spcAft>
              <a:defRPr sz="1300">
                <a:solidFill>
                  <a:srgbClr val="53D8FB"/>
                </a:solidFill>
              </a:defRPr>
            </a:pPr>
            <a:r>
              <a:t>def build_y_to_ie_rule():</a:t>
            </a:r>
          </a:p>
          <a:p>
            <a:pPr>
              <a:spcAft>
                <a:spcPts val="400"/>
              </a:spcAft>
              <a:defRPr sz="1300">
                <a:solidFill>
                  <a:srgbClr val="53D8FB"/>
                </a:solidFill>
              </a:defRPr>
            </a:pPr>
            <a:r>
              <a:t>    '''y → ie before ^s (after consonant): fly^s → flies'''</a:t>
            </a:r>
          </a:p>
          <a:p>
            <a:pPr>
              <a:spcAft>
                <a:spcPts val="400"/>
              </a:spcAft>
              <a:defRPr sz="1300">
                <a:solidFill>
                  <a:srgbClr val="53D8FB"/>
                </a:solidFill>
              </a:defRPr>
            </a:pPr>
            <a:r>
              <a:t>    return pynini.cdrewrite(</a:t>
            </a:r>
          </a:p>
          <a:p>
            <a:pPr>
              <a:spcAft>
                <a:spcPts val="400"/>
              </a:spcAft>
              <a:defRPr sz="1300">
                <a:solidFill>
                  <a:srgbClr val="53D8FB"/>
                </a:solidFill>
              </a:defRPr>
            </a:pPr>
            <a:r>
              <a:t>        pynini.cross('y', 'ie'),</a:t>
            </a:r>
          </a:p>
          <a:p>
            <a:pPr>
              <a:spcAft>
                <a:spcPts val="400"/>
              </a:spcAft>
              <a:defRPr sz="1300">
                <a:solidFill>
                  <a:srgbClr val="53D8FB"/>
                </a:solidFill>
              </a:defRPr>
            </a:pPr>
            <a:r>
              <a:t>        CONSONANT,                     # left context</a:t>
            </a:r>
          </a:p>
          <a:p>
            <a:pPr>
              <a:spcAft>
                <a:spcPts val="400"/>
              </a:spcAft>
              <a:defRPr sz="1300">
                <a:solidFill>
                  <a:srgbClr val="53D8FB"/>
                </a:solidFill>
              </a:defRPr>
            </a:pPr>
            <a:r>
              <a:t>        pynini.accep('^') + pynini.accep('s'),  # right</a:t>
            </a:r>
          </a:p>
          <a:p>
            <a:pPr>
              <a:spcAft>
                <a:spcPts val="400"/>
              </a:spcAft>
              <a:defRPr sz="1300">
                <a:solidFill>
                  <a:srgbClr val="53D8FB"/>
                </a:solidFill>
              </a:defRPr>
            </a:pPr>
            <a:r>
              <a:t>        SIGMA_STAR,</a:t>
            </a:r>
          </a:p>
          <a:p>
            <a:pPr>
              <a:spcAft>
                <a:spcPts val="400"/>
              </a:spcAft>
              <a:defRPr sz="1300">
                <a:solidFill>
                  <a:srgbClr val="53D8FB"/>
                </a:solidFill>
              </a:defRPr>
            </a:pPr>
            <a:r>
              <a:t>    ).optimize()</a:t>
            </a:r>
          </a:p>
          <a:p>
            <a:pPr>
              <a:spcAft>
                <a:spcPts val="400"/>
              </a:spcAft>
              <a:defRPr sz="1300">
                <a:solidFill>
                  <a:srgbClr val="53D8FB"/>
                </a:solidFill>
              </a:defRPr>
            </a:pPr>
          </a:p>
          <a:p>
            <a:pPr>
              <a:spcAft>
                <a:spcPts val="400"/>
              </a:spcAft>
              <a:defRPr sz="1300">
                <a:solidFill>
                  <a:srgbClr val="53D8FB"/>
                </a:solidFill>
              </a:defRPr>
            </a:pPr>
            <a:r>
              <a:t>def build_e_deletion_rule():</a:t>
            </a:r>
          </a:p>
          <a:p>
            <a:pPr>
              <a:spcAft>
                <a:spcPts val="400"/>
              </a:spcAft>
              <a:defRPr sz="1300">
                <a:solidFill>
                  <a:srgbClr val="53D8FB"/>
                </a:solidFill>
              </a:defRPr>
            </a:pPr>
            <a:r>
              <a:t>    '''Delete silent e before ^vowel: hope^ing → hoping'''</a:t>
            </a:r>
          </a:p>
          <a:p>
            <a:pPr>
              <a:spcAft>
                <a:spcPts val="400"/>
              </a:spcAft>
              <a:defRPr sz="1300">
                <a:solidFill>
                  <a:srgbClr val="53D8FB"/>
                </a:solidFill>
              </a:defRPr>
            </a:pPr>
            <a:r>
              <a:t>    return pynini.cdrewrite(</a:t>
            </a:r>
          </a:p>
          <a:p>
            <a:pPr>
              <a:spcAft>
                <a:spcPts val="400"/>
              </a:spcAft>
              <a:defRPr sz="1300">
                <a:solidFill>
                  <a:srgbClr val="53D8FB"/>
                </a:solidFill>
              </a:defRPr>
            </a:pPr>
            <a:r>
              <a:t>        pynini.cross('e', ''),</a:t>
            </a:r>
          </a:p>
          <a:p>
            <a:pPr>
              <a:spcAft>
                <a:spcPts val="400"/>
              </a:spcAft>
              <a:defRPr sz="1300">
                <a:solidFill>
                  <a:srgbClr val="53D8FB"/>
                </a:solidFill>
              </a:defRPr>
            </a:pPr>
            <a:r>
              <a:t>        CONSONANT,</a:t>
            </a:r>
          </a:p>
          <a:p>
            <a:pPr>
              <a:spcAft>
                <a:spcPts val="400"/>
              </a:spcAft>
              <a:defRPr sz="1300">
                <a:solidFill>
                  <a:srgbClr val="53D8FB"/>
                </a:solidFill>
              </a:defRPr>
            </a:pPr>
            <a:r>
              <a:t>        pynini.accep('^') + VOWEL,</a:t>
            </a:r>
          </a:p>
          <a:p>
            <a:pPr>
              <a:spcAft>
                <a:spcPts val="400"/>
              </a:spcAft>
              <a:defRPr sz="1300">
                <a:solidFill>
                  <a:srgbClr val="53D8FB"/>
                </a:solidFill>
              </a:defRPr>
            </a:pPr>
            <a:r>
              <a:t>        SIGMA_STAR,</a:t>
            </a:r>
          </a:p>
          <a:p>
            <a:pPr>
              <a:spcAft>
                <a:spcPts val="400"/>
              </a:spcAft>
              <a:defRPr sz="1300">
                <a:solidFill>
                  <a:srgbClr val="53D8FB"/>
                </a:solidFill>
              </a:defRPr>
            </a:pPr>
            <a:r>
              <a:t>    ).optimize()</a:t>
            </a:r>
          </a:p>
          <a:p>
            <a:pPr>
              <a:spcAft>
                <a:spcPts val="400"/>
              </a:spcAft>
              <a:defRPr sz="1300">
                <a:solidFill>
                  <a:srgbClr val="53D8FB"/>
                </a:solidFill>
              </a:defRPr>
            </a:pPr>
          </a:p>
          <a:p>
            <a:pPr>
              <a:spcAft>
                <a:spcPts val="400"/>
              </a:spcAft>
              <a:defRPr sz="1300">
                <a:solidFill>
                  <a:srgbClr val="53D8FB"/>
                </a:solidFill>
              </a:defRPr>
            </a:pPr>
            <a:r>
              <a:t># Compose cascade: rules applied in order</a:t>
            </a:r>
          </a:p>
          <a:p>
            <a:pPr>
              <a:spcAft>
                <a:spcPts val="400"/>
              </a:spcAft>
              <a:defRPr sz="1300">
                <a:solidFill>
                  <a:srgbClr val="53D8FB"/>
                </a:solidFill>
              </a:defRPr>
            </a:pPr>
            <a:r>
              <a:t>cascade = (r1 @ r2 @ r3 @ r4 @ r5).optimize()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12191695" cy="109728"/>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0058400" cy="640080"/>
          </a:xfrm>
          <a:prstGeom prst="rect">
            <a:avLst/>
          </a:prstGeom>
          <a:noFill/>
        </p:spPr>
        <p:txBody>
          <a:bodyPr wrap="square">
            <a:spAutoFit/>
          </a:bodyPr>
          <a:lstStyle/>
          <a:p>
            <a:pPr algn="ctr">
              <a:defRPr sz="3400" b="1">
                <a:solidFill>
                  <a:srgbClr val="53D8FB"/>
                </a:solidFill>
              </a:defRPr>
            </a:pPr>
            <a:r>
              <a:t>Conclusion &amp; Future Work</a:t>
            </a:r>
          </a:p>
        </p:txBody>
      </p:sp>
      <p:sp>
        <p:nvSpPr>
          <p:cNvPr id="5" name="TextBox 4"/>
          <p:cNvSpPr txBox="1"/>
          <p:nvPr/>
        </p:nvSpPr>
        <p:spPr>
          <a:xfrm>
            <a:off x="548640" y="1371600"/>
            <a:ext cx="5029200" cy="457200"/>
          </a:xfrm>
          <a:prstGeom prst="rect">
            <a:avLst/>
          </a:prstGeom>
          <a:noFill/>
        </p:spPr>
        <p:txBody>
          <a:bodyPr wrap="square">
            <a:spAutoFit/>
          </a:bodyPr>
          <a:lstStyle/>
          <a:p>
            <a:pPr algn="l">
              <a:defRPr sz="2200" b="1">
                <a:solidFill>
                  <a:srgbClr val="FFD54F"/>
                </a:solidFill>
              </a:defRPr>
            </a:pPr>
            <a:r>
              <a:t>Key Achievements</a:t>
            </a:r>
          </a:p>
        </p:txBody>
      </p:sp>
      <p:sp>
        <p:nvSpPr>
          <p:cNvPr id="6" name="TextBox 5"/>
          <p:cNvSpPr txBox="1"/>
          <p:nvPr/>
        </p:nvSpPr>
        <p:spPr>
          <a:xfrm>
            <a:off x="548640" y="1920240"/>
            <a:ext cx="5029200" cy="2286000"/>
          </a:xfrm>
          <a:prstGeom prst="rect">
            <a:avLst/>
          </a:prstGeom>
          <a:noFill/>
        </p:spPr>
        <p:txBody>
          <a:bodyPr wrap="square">
            <a:spAutoFit/>
          </a:bodyPr>
          <a:lstStyle/>
          <a:p>
            <a:pPr>
              <a:spcAft>
                <a:spcPts val="400"/>
              </a:spcAft>
              <a:defRPr sz="1500">
                <a:solidFill>
                  <a:srgbClr val="B0BEC5"/>
                </a:solidFill>
              </a:defRPr>
            </a:pPr>
            <a:r>
              <a:t>✓ Three-language morphological analyzer (EN/HI/BN)</a:t>
            </a:r>
          </a:p>
          <a:p>
            <a:pPr>
              <a:spcAft>
                <a:spcPts val="400"/>
              </a:spcAft>
              <a:defRPr sz="1500">
                <a:solidFill>
                  <a:srgbClr val="B0BEC5"/>
                </a:solidFill>
              </a:defRPr>
            </a:pPr>
            <a:r>
              <a:t>✓ 74.3% accuracy with hybrid FST + Neural approach</a:t>
            </a:r>
          </a:p>
          <a:p>
            <a:pPr>
              <a:spcAft>
                <a:spcPts val="400"/>
              </a:spcAft>
              <a:defRPr sz="1500">
                <a:solidFill>
                  <a:srgbClr val="B0BEC5"/>
                </a:solidFill>
              </a:defRPr>
            </a:pPr>
            <a:r>
              <a:t>✓ 100% coverage — no OOV words in hybrid mode</a:t>
            </a:r>
          </a:p>
          <a:p>
            <a:pPr>
              <a:spcAft>
                <a:spcPts val="400"/>
              </a:spcAft>
              <a:defRPr sz="1500">
                <a:solidFill>
                  <a:srgbClr val="B0BEC5"/>
                </a:solidFill>
              </a:defRPr>
            </a:pPr>
            <a:r>
              <a:t>✓ Real pynini state traversal visualization</a:t>
            </a:r>
          </a:p>
          <a:p>
            <a:pPr>
              <a:spcAft>
                <a:spcPts val="400"/>
              </a:spcAft>
              <a:defRPr sz="1500">
                <a:solidFill>
                  <a:srgbClr val="B0BEC5"/>
                </a:solidFill>
              </a:defRPr>
            </a:pPr>
            <a:r>
              <a:t>✓ Web interface for interactive analysis</a:t>
            </a:r>
          </a:p>
          <a:p>
            <a:pPr>
              <a:spcAft>
                <a:spcPts val="400"/>
              </a:spcAft>
              <a:defRPr sz="1500">
                <a:solidFill>
                  <a:srgbClr val="B0BEC5"/>
                </a:solidFill>
              </a:defRPr>
            </a:pPr>
            <a:r>
              <a:t>✓ Comprehensive evaluation on UniMorph dataset</a:t>
            </a:r>
          </a:p>
        </p:txBody>
      </p:sp>
      <p:sp>
        <p:nvSpPr>
          <p:cNvPr id="7" name="TextBox 6"/>
          <p:cNvSpPr txBox="1"/>
          <p:nvPr/>
        </p:nvSpPr>
        <p:spPr>
          <a:xfrm>
            <a:off x="6400800" y="1371600"/>
            <a:ext cx="5029200" cy="457200"/>
          </a:xfrm>
          <a:prstGeom prst="rect">
            <a:avLst/>
          </a:prstGeom>
          <a:noFill/>
        </p:spPr>
        <p:txBody>
          <a:bodyPr wrap="square">
            <a:spAutoFit/>
          </a:bodyPr>
          <a:lstStyle/>
          <a:p>
            <a:pPr algn="l">
              <a:defRPr sz="2200" b="1">
                <a:solidFill>
                  <a:srgbClr val="E94E77"/>
                </a:solidFill>
              </a:defRPr>
            </a:pPr>
            <a:r>
              <a:t>Future Directions</a:t>
            </a:r>
          </a:p>
        </p:txBody>
      </p:sp>
      <p:sp>
        <p:nvSpPr>
          <p:cNvPr id="8" name="TextBox 7"/>
          <p:cNvSpPr txBox="1"/>
          <p:nvPr/>
        </p:nvSpPr>
        <p:spPr>
          <a:xfrm>
            <a:off x="6400800" y="1920240"/>
            <a:ext cx="5029200" cy="2286000"/>
          </a:xfrm>
          <a:prstGeom prst="rect">
            <a:avLst/>
          </a:prstGeom>
          <a:noFill/>
        </p:spPr>
        <p:txBody>
          <a:bodyPr wrap="square">
            <a:spAutoFit/>
          </a:bodyPr>
          <a:lstStyle/>
          <a:p>
            <a:pPr>
              <a:spcAft>
                <a:spcPts val="400"/>
              </a:spcAft>
              <a:defRPr sz="1500">
                <a:solidFill>
                  <a:srgbClr val="B0BEC5"/>
                </a:solidFill>
              </a:defRPr>
            </a:pPr>
            <a:r>
              <a:t>→ Add more languages (Tamil, Marathi, Urdu)</a:t>
            </a:r>
          </a:p>
          <a:p>
            <a:pPr>
              <a:spcAft>
                <a:spcPts val="400"/>
              </a:spcAft>
              <a:defRPr sz="1500">
                <a:solidFill>
                  <a:srgbClr val="B0BEC5"/>
                </a:solidFill>
              </a:defRPr>
            </a:pPr>
            <a:r>
              <a:t>→ Context-aware analysis using POS tagger</a:t>
            </a:r>
          </a:p>
          <a:p>
            <a:pPr>
              <a:spcAft>
                <a:spcPts val="400"/>
              </a:spcAft>
              <a:defRPr sz="1500">
                <a:solidFill>
                  <a:srgbClr val="B0BEC5"/>
                </a:solidFill>
              </a:defRPr>
            </a:pPr>
            <a:r>
              <a:t>→ Larger neural model with attention visualization</a:t>
            </a:r>
          </a:p>
          <a:p>
            <a:pPr>
              <a:spcAft>
                <a:spcPts val="400"/>
              </a:spcAft>
              <a:defRPr sz="1500">
                <a:solidFill>
                  <a:srgbClr val="B0BEC5"/>
                </a:solidFill>
              </a:defRPr>
            </a:pPr>
            <a:r>
              <a:t>→ Handle compound words and sandhi in Hindi</a:t>
            </a:r>
          </a:p>
          <a:p>
            <a:pPr>
              <a:spcAft>
                <a:spcPts val="400"/>
              </a:spcAft>
              <a:defRPr sz="1500">
                <a:solidFill>
                  <a:srgbClr val="B0BEC5"/>
                </a:solidFill>
              </a:defRPr>
            </a:pPr>
            <a:r>
              <a:t>→ Deploy web interface for public use</a:t>
            </a:r>
          </a:p>
          <a:p>
            <a:pPr>
              <a:spcAft>
                <a:spcPts val="400"/>
              </a:spcAft>
              <a:defRPr sz="1500">
                <a:solidFill>
                  <a:srgbClr val="B0BEC5"/>
                </a:solidFill>
              </a:defRPr>
            </a:pPr>
            <a:r>
              <a:t>→ Integration with spell-checking pipeline</a:t>
            </a:r>
          </a:p>
        </p:txBody>
      </p:sp>
      <p:sp>
        <p:nvSpPr>
          <p:cNvPr id="9" name="TextBox 8"/>
          <p:cNvSpPr txBox="1"/>
          <p:nvPr/>
        </p:nvSpPr>
        <p:spPr>
          <a:xfrm>
            <a:off x="914400" y="4846320"/>
            <a:ext cx="10058400" cy="731520"/>
          </a:xfrm>
          <a:prstGeom prst="rect">
            <a:avLst/>
          </a:prstGeom>
          <a:noFill/>
        </p:spPr>
        <p:txBody>
          <a:bodyPr wrap="square">
            <a:spAutoFit/>
          </a:bodyPr>
          <a:lstStyle/>
          <a:p>
            <a:pPr algn="ctr">
              <a:defRPr sz="3600" b="1">
                <a:solidFill>
                  <a:srgbClr val="FFFFFF"/>
                </a:solidFill>
              </a:defRPr>
            </a:pPr>
            <a:r>
              <a:t>Thank You!</a:t>
            </a:r>
          </a:p>
        </p:txBody>
      </p:sp>
      <p:sp>
        <p:nvSpPr>
          <p:cNvPr id="10" name="TextBox 9"/>
          <p:cNvSpPr txBox="1"/>
          <p:nvPr/>
        </p:nvSpPr>
        <p:spPr>
          <a:xfrm>
            <a:off x="914400" y="5669280"/>
            <a:ext cx="10058400" cy="548640"/>
          </a:xfrm>
          <a:prstGeom prst="rect">
            <a:avLst/>
          </a:prstGeom>
          <a:noFill/>
        </p:spPr>
        <p:txBody>
          <a:bodyPr wrap="square">
            <a:spAutoFit/>
          </a:bodyPr>
          <a:lstStyle/>
          <a:p>
            <a:pPr algn="ctr">
              <a:defRPr sz="1800" b="0">
                <a:solidFill>
                  <a:srgbClr val="78909C"/>
                </a:solidFill>
              </a:defRPr>
            </a:pPr>
            <a:r>
              <a:t>Rushil Sharma  •  Avik Majumder  |  github.com/avikmjd2/fst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